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HAGO: Presentación en pantalla completa en la portada; el mosaico se llena solo. DIGO: Hola, soy Alberto Llaneza. Mi Trabajo Fin de Máster es el Observatorio de presión residencial, y os lo cuento con una historia: la de alguien que tiene que decidir dónde mirar primero.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HAGO: Pasa a la hoja 2; los puntos y los 3 elegidos aparecen solos. DIGO: Imaginad a Celia. Es un caso ilustrativo: trabaja en la dirección general de vivienda de su comunidad y puede estudiar a fondo solo tres municipios. En el observatorio hay 306. ¿Cuáles elige? ¿Dónde aprieta más la vivienda?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 HAGO: Un clic por ficha (5), un clic para la frase final; el sello «NO ENCAJAN» cae solo. DIGO: Hoy, la respuesta está repartida. ▶ La renta, en el Atlas del INE; ▶ el precio, en hojas del Ministerio; ▶ los pisos turísticos, en otra estadística; ▶ el clima, en una API de escenarios; ▶ y el alquiler, en otra web. ▶ Cinco organismos, 71 ficheros que no encajan, y habría que rehacerlo con cada dato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HAGO: Al terminar de hablar, clic: la captura se amplía a pantalla completa. DIGO: Con el observatorio, todo eso se convierte en un mapa. Os lo enseño funcionando.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HAGO: CORTE a la grabación de la app (navegador a pantalla completa, empezando en Mapa · Presión total · Situación actual). Sigue los 5 pasos de la tabla de abajo y termina con la ficha de Málaga arriba del todo. (0:00–0:08) HAGO: Mapa · Presión total. No toques nada; mueve el ratón despacio sobre la costa. DIGO: «Esto es el observatorio funcionando. Cada mancha es un municipio: cuanto más oscuro, más presión.» (0:08–0:18) HAGO: Clic en la pestaña «Viviendas turísticas». DIGO: «Si Celia quiere ver solo los pisos turísticos, cambia de capa y el mapa se actualiza al instante.» (0:18–0:28) HAGO: Clic en «Con riesgo futuro». Espera 2 s. Clic en «Situación actual» y en la pestaña «Presión total». DIGO: «Con este botón añade el escenario climático de 2041 a 2060. Vuelvo a la situación actual.» (0:28–0:38) HAGO: Clic en «Málaga» en la lista «Los diez con más presión». DIGO: «A la derecha tiene siempre los diez municipios con más presión. Abre Málaga, la segunda.» (0:38–0:50) HAGO: Clic en «Abrir la hoja del municipio». Deja la ficha arriba del todo, sin desplazarte. Para la grabación. DIGO: «Y la hoja del municipio le explica de dónde sale su puntuación y qué capa pesa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HAGO: CORTE de vuelta: aparece la ficha de Málaga a pantalla completa (igual que el final de la demo). Clic enseguida: la ficha se reduce y entra la hoja 5. DIGO: (Sin texto: el zoom de salida acompaña el final de tu última frase de la demo.)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HAGO: Deja que termine el zoom y habla. DIGO: En resumen: 90,4, segunda de 306, con todas sus capas altas a la vez. Celia ya no solo sabe dónde mirar: sabe por dónde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HAGO: Pasa a la hoja 6; las barras entran solas de arriba abajo. DIGO: Y descubre que el número no basta. Málaga es alta en todo. Valencia llega a 76 sobre todo por la especulación. Madrid y Barcelona están entre las más difíciles para pagar, pero Barcelona apenas tiene dinámica reciente y cae al puesto 110. Mismo número, problemas distintos.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HAGO: Al entrar, los puntos aparecen solos; espera un segundo. Clic para el top 3. DIGO: Si mira el conjunto, la presión dibuja un arco litoral. ▶ Puerto de la Cruz, Málaga y Torremolinos encabezan el índice, y 46 de los 61 municipios de presión muy alta están en solo seis provincias.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HAGO: Pasa a la hoja 8. (Si vas justo de tiempo, sáltala.) DIGO: Detrás de cada puntuación hay cinco preguntas sencillas: cuántos años de renta cuesta una vivienda, cuántos pisos turísticos hay por vecino, si el mercado se acelera, si cambian los hogares y cuánto calor y sequía le esperan. Todo en una escala de 0 a 100, con pesos públicos.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[≈0:28] HAGO: Las cuatro barras suben solas al entrar; luego un clic por garantía (4). DIGO: ¿Puede fiarse Celia? El índice coincide con un dato que no usa: el alquiler real. Entre los municipios con menos presión y los que más, el alquiler mediano pasa de 400 a 570 euros. ▶ Cada cifra se rastrea hasta su fuente, ▶ nada se publica si falla uno de los 77 controles, ▶ se actualiza solo cada semana ▶ y el orden apenas cambia con otros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 HAGO: Un clic por perfil (4) y uno para la frase final. DIGO: Y Celia no es la única. ▶ Sirve a analistas públicos, ▶ a equipos de investigación, ▶ a consultoras ▶ y a cualquier persona que quiera entender su municipio.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HAGO: Pasa a la hoja final y aguanta la imagen 2 segundos al terminar. DIGO: Así que Celia ya sabe dónde mirar. El observatorio no decide por ella ni sustituye el estudio local, pero le dice por dónde empezar. Lo siguiente es probarlo con usuarios reales, añadir alertas y acordar los pesos con expertos.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1587500"/>
            <a:ext cx="6278880" cy="452041"/>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TRABAJO FIN DE MÁSTER</a:t>
            </a:r>
            <a:endParaRPr lang="en-US" sz="1200" dirty="0"/>
          </a:p>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UCM · DATA SCIENCE, BIG DATA &amp; BUSINESS ANALYTICS</a:t>
            </a:r>
            <a:endParaRPr lang="en-US" sz="1200" dirty="0"/>
          </a:p>
        </p:txBody>
      </p:sp>
      <p:sp>
        <p:nvSpPr>
          <p:cNvPr id="4" name="Text 2"/>
          <p:cNvSpPr/>
          <p:nvPr/>
        </p:nvSpPr>
        <p:spPr>
          <a:xfrm>
            <a:off x="812800" y="2286000"/>
            <a:ext cx="6278880" cy="1372592"/>
          </a:xfrm>
          <a:prstGeom prst="rect">
            <a:avLst/>
          </a:prstGeom>
          <a:noFill/>
          <a:ln/>
        </p:spPr>
        <p:txBody>
          <a:bodyPr wrap="square" lIns="0" tIns="0" rIns="0" bIns="0" rtlCol="0" anchor="t">
            <a:normAutofit/>
          </a:bodyPr>
          <a:lstStyle/>
          <a:p>
            <a:pPr algn="l" indent="0" marL="0">
              <a:lnSpc>
                <a:spcPts val="5304"/>
              </a:lnSpc>
              <a:buNone/>
            </a:pPr>
            <a:r>
              <a:rPr lang="en-US" sz="5200" spc="-100" kern="0" dirty="0">
                <a:solidFill>
                  <a:srgbClr val="1B1A17"/>
                </a:solidFill>
                <a:latin typeface="Archivo Black" pitchFamily="34" charset="0"/>
                <a:ea typeface="Archivo Black" pitchFamily="34" charset="-122"/>
                <a:cs typeface="Archivo Black" pitchFamily="34" charset="-120"/>
              </a:rPr>
              <a:t>Dónde mirar primero</a:t>
            </a:r>
            <a:endParaRPr lang="en-US" sz="5200" dirty="0"/>
          </a:p>
        </p:txBody>
      </p:sp>
      <p:sp>
        <p:nvSpPr>
          <p:cNvPr id="5" name="Text 3"/>
          <p:cNvSpPr/>
          <p:nvPr/>
        </p:nvSpPr>
        <p:spPr>
          <a:xfrm>
            <a:off x="812800" y="3810000"/>
            <a:ext cx="627888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5A544C"/>
                </a:solidFill>
                <a:latin typeface="Archivo" pitchFamily="34" charset="0"/>
                <a:ea typeface="Archivo" pitchFamily="34" charset="-122"/>
                <a:cs typeface="Archivo" pitchFamily="34" charset="-120"/>
              </a:rPr>
              <a:t>Observatorio de presión residencial: la historia de una decisión entre 306 municipios</a:t>
            </a:r>
            <a:endParaRPr lang="en-US" sz="1600" dirty="0"/>
          </a:p>
        </p:txBody>
      </p:sp>
      <p:sp>
        <p:nvSpPr>
          <p:cNvPr id="6" name="Shape 4"/>
          <p:cNvSpPr/>
          <p:nvPr/>
        </p:nvSpPr>
        <p:spPr>
          <a:xfrm>
            <a:off x="812800" y="4641850"/>
            <a:ext cx="6096000" cy="0"/>
          </a:xfrm>
          <a:prstGeom prst="line">
            <a:avLst/>
          </a:prstGeom>
          <a:noFill/>
          <a:ln w="12700">
            <a:solidFill>
              <a:srgbClr val="1B1A17"/>
            </a:solidFill>
            <a:prstDash val="solid"/>
          </a:ln>
        </p:spPr>
      </p:sp>
      <p:sp>
        <p:nvSpPr>
          <p:cNvPr id="7" name="Text 5"/>
          <p:cNvSpPr/>
          <p:nvPr/>
        </p:nvSpPr>
        <p:spPr>
          <a:xfrm>
            <a:off x="812800" y="47752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B1A17"/>
                </a:solidFill>
                <a:latin typeface="IBM Plex Mono" pitchFamily="34" charset="0"/>
                <a:ea typeface="IBM Plex Mono" pitchFamily="34" charset="-122"/>
                <a:cs typeface="IBM Plex Mono" pitchFamily="34" charset="-120"/>
              </a:rPr>
              <a:t>ALBERTO LLANEZA TABARES · SEPTIEMBRE 2026</a:t>
            </a:r>
            <a:endParaRPr lang="en-US" sz="1200" dirty="0"/>
          </a:p>
        </p:txBody>
      </p:sp>
      <p:pic>
        <p:nvPicPr>
          <p:cNvPr id="8" name="Image 0" descr="Municipios de presión muy alta">    </p:cNvPr>
          <p:cNvPicPr>
            <a:picLocks noChangeAspect="1"/>
          </p:cNvPicPr>
          <p:nvPr/>
        </p:nvPicPr>
        <p:blipFill>
          <a:blip r:embed="rId1"/>
          <a:srcRect l="0" r="0" t="0" b="0"/>
          <a:stretch/>
        </p:blipFill>
        <p:spPr>
          <a:xfrm>
            <a:off x="7531100" y="1346200"/>
            <a:ext cx="3848100" cy="3632200"/>
          </a:xfrm>
          <a:prstGeom prst="rect">
            <a:avLst/>
          </a:prstGeom>
        </p:spPr>
      </p:pic>
      <p:pic>
        <p:nvPicPr>
          <p:cNvPr id="9" name="Image 1" descr="Municipios de presión alta">    </p:cNvPr>
          <p:cNvPicPr>
            <a:picLocks noChangeAspect="1"/>
          </p:cNvPicPr>
          <p:nvPr/>
        </p:nvPicPr>
        <p:blipFill>
          <a:blip r:embed="rId2"/>
          <a:srcRect l="0" r="0" t="0" b="0"/>
          <a:stretch/>
        </p:blipFill>
        <p:spPr>
          <a:xfrm>
            <a:off x="7531100" y="1346200"/>
            <a:ext cx="3848100" cy="3632200"/>
          </a:xfrm>
          <a:prstGeom prst="rect">
            <a:avLst/>
          </a:prstGeom>
        </p:spPr>
      </p:pic>
      <p:pic>
        <p:nvPicPr>
          <p:cNvPr id="10" name="Image 2" descr="Municipios de presión media">    </p:cNvPr>
          <p:cNvPicPr>
            <a:picLocks noChangeAspect="1"/>
          </p:cNvPicPr>
          <p:nvPr/>
        </p:nvPicPr>
        <p:blipFill>
          <a:blip r:embed="rId3"/>
          <a:srcRect l="0" r="0" t="0" b="0"/>
          <a:stretch/>
        </p:blipFill>
        <p:spPr>
          <a:xfrm>
            <a:off x="7531100" y="1346200"/>
            <a:ext cx="3848100" cy="3632200"/>
          </a:xfrm>
          <a:prstGeom prst="rect">
            <a:avLst/>
          </a:prstGeom>
        </p:spPr>
      </p:pic>
      <p:pic>
        <p:nvPicPr>
          <p:cNvPr id="11" name="Image 3" descr="Municipios de presión baja">    </p:cNvPr>
          <p:cNvPicPr>
            <a:picLocks noChangeAspect="1"/>
          </p:cNvPicPr>
          <p:nvPr/>
        </p:nvPicPr>
        <p:blipFill>
          <a:blip r:embed="rId4"/>
          <a:srcRect l="0" r="0" t="0" b="0"/>
          <a:stretch/>
        </p:blipFill>
        <p:spPr>
          <a:xfrm>
            <a:off x="7531100" y="1346200"/>
            <a:ext cx="3848100" cy="3632200"/>
          </a:xfrm>
          <a:prstGeom prst="rect">
            <a:avLst/>
          </a:prstGeom>
        </p:spPr>
      </p:pic>
      <p:pic>
        <p:nvPicPr>
          <p:cNvPr id="12" name="Image 4" descr="Municipios de presión muy baja">    </p:cNvPr>
          <p:cNvPicPr>
            <a:picLocks noChangeAspect="1"/>
          </p:cNvPicPr>
          <p:nvPr/>
        </p:nvPicPr>
        <p:blipFill>
          <a:blip r:embed="rId5"/>
          <a:srcRect l="0" r="0" t="0" b="0"/>
          <a:stretch/>
        </p:blipFill>
        <p:spPr>
          <a:xfrm>
            <a:off x="7531100" y="1346200"/>
            <a:ext cx="3848100" cy="3632200"/>
          </a:xfrm>
          <a:prstGeom prst="rect">
            <a:avLst/>
          </a:prstGeom>
        </p:spPr>
      </p:pic>
      <p:sp>
        <p:nvSpPr>
          <p:cNvPr id="13" name="Text 6"/>
          <p:cNvSpPr/>
          <p:nvPr/>
        </p:nvSpPr>
        <p:spPr>
          <a:xfrm>
            <a:off x="7531100" y="5080000"/>
            <a:ext cx="396354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1 cuadrado = 1 municipio, de más a menos presión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02 · UN ENCARGO</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02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Imagina a Celia</a:t>
            </a:r>
            <a:endParaRPr lang="en-US" sz="3600" dirty="0"/>
          </a:p>
        </p:txBody>
      </p:sp>
      <p:sp>
        <p:nvSpPr>
          <p:cNvPr id="6" name="Text 4"/>
          <p:cNvSpPr/>
          <p:nvPr/>
        </p:nvSpPr>
        <p:spPr>
          <a:xfrm>
            <a:off x="812800" y="1879600"/>
            <a:ext cx="10883392" cy="75168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1B1A17"/>
                </a:solidFill>
                <a:latin typeface="Archivo" pitchFamily="34" charset="0"/>
                <a:ea typeface="Archivo" pitchFamily="34" charset="-122"/>
                <a:cs typeface="Archivo" pitchFamily="34" charset="-120"/>
              </a:rPr>
              <a:t>Trabaja en la dirección general de vivienda de su comunidad. Puede estudiar a fondo </a:t>
            </a:r>
            <a:r>
              <a:rPr lang="en-US" sz="2200" b="1" dirty="0">
                <a:solidFill>
                  <a:srgbClr val="1B1A17"/>
                </a:solidFill>
                <a:latin typeface="Archivo" pitchFamily="34" charset="0"/>
                <a:ea typeface="Archivo" pitchFamily="34" charset="-122"/>
                <a:cs typeface="Archivo" pitchFamily="34" charset="-120"/>
              </a:rPr>
              <a:t>3 municipios</a:t>
            </a:r>
            <a:r>
              <a:rPr lang="en-US" sz="2200" dirty="0">
                <a:solidFill>
                  <a:srgbClr val="1B1A17"/>
                </a:solidFill>
                <a:latin typeface="Archivo" pitchFamily="34" charset="0"/>
                <a:ea typeface="Archivo" pitchFamily="34" charset="-122"/>
                <a:cs typeface="Archivo" pitchFamily="34" charset="-120"/>
              </a:rPr>
              <a:t>. ¿Cuáles?</a:t>
            </a:r>
            <a:endParaRPr lang="en-US" sz="2200" dirty="0"/>
          </a:p>
        </p:txBody>
      </p:sp>
      <p:pic>
        <p:nvPicPr>
          <p:cNvPr id="7" name="Image 0" descr="306 puntos, uno por municipio">    </p:cNvPr>
          <p:cNvPicPr>
            <a:picLocks noChangeAspect="1"/>
          </p:cNvPicPr>
          <p:nvPr/>
        </p:nvPicPr>
        <p:blipFill>
          <a:blip r:embed="rId1"/>
          <a:srcRect l="0" r="0" t="-11" b="-11"/>
          <a:stretch/>
        </p:blipFill>
        <p:spPr>
          <a:xfrm>
            <a:off x="812800" y="2857500"/>
            <a:ext cx="10363200" cy="2743200"/>
          </a:xfrm>
          <a:prstGeom prst="rect">
            <a:avLst/>
          </a:prstGeom>
        </p:spPr>
      </p:pic>
      <p:pic>
        <p:nvPicPr>
          <p:cNvPr id="8" name="Image 1" descr="Municipio elegido 1">    </p:cNvPr>
          <p:cNvPicPr>
            <a:picLocks noChangeAspect="1"/>
          </p:cNvPicPr>
          <p:nvPr/>
        </p:nvPicPr>
        <p:blipFill>
          <a:blip r:embed="rId2"/>
          <a:srcRect l="0" r="0" t="0" b="0"/>
          <a:stretch/>
        </p:blipFill>
        <p:spPr>
          <a:xfrm>
            <a:off x="2946400" y="3162300"/>
            <a:ext cx="304800" cy="304800"/>
          </a:xfrm>
          <a:prstGeom prst="rect">
            <a:avLst/>
          </a:prstGeom>
        </p:spPr>
      </p:pic>
      <p:pic>
        <p:nvPicPr>
          <p:cNvPr id="9" name="Image 2" descr="Municipio elegido 2">    </p:cNvPr>
          <p:cNvPicPr>
            <a:picLocks noChangeAspect="1"/>
          </p:cNvPicPr>
          <p:nvPr/>
        </p:nvPicPr>
        <p:blipFill>
          <a:blip r:embed="rId3"/>
          <a:srcRect l="0" r="0" t="0" b="0"/>
          <a:stretch/>
        </p:blipFill>
        <p:spPr>
          <a:xfrm>
            <a:off x="7213600" y="4076700"/>
            <a:ext cx="304800" cy="304800"/>
          </a:xfrm>
          <a:prstGeom prst="rect">
            <a:avLst/>
          </a:prstGeom>
        </p:spPr>
      </p:pic>
      <p:pic>
        <p:nvPicPr>
          <p:cNvPr id="10" name="Image 3" descr="Municipio elegido 3">    </p:cNvPr>
          <p:cNvPicPr>
            <a:picLocks noChangeAspect="1"/>
          </p:cNvPicPr>
          <p:nvPr/>
        </p:nvPicPr>
        <p:blipFill>
          <a:blip r:embed="rId4"/>
          <a:srcRect l="0" r="0" t="0" b="0"/>
          <a:stretch/>
        </p:blipFill>
        <p:spPr>
          <a:xfrm>
            <a:off x="8128000" y="4991100"/>
            <a:ext cx="304800" cy="304800"/>
          </a:xfrm>
          <a:prstGeom prst="rect">
            <a:avLst/>
          </a:prstGeom>
        </p:spPr>
      </p:pic>
      <p:sp>
        <p:nvSpPr>
          <p:cNvPr id="11" name="Text 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Caso ilustrativo · cada punto es uno de los 306 municipios del observatorio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03 · HOY</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03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La respuesta está repartida</a:t>
            </a:r>
            <a:endParaRPr lang="en-US" sz="3600" dirty="0"/>
          </a:p>
        </p:txBody>
      </p:sp>
      <p:sp>
        <p:nvSpPr>
          <p:cNvPr id="6" name="Shape 4"/>
          <p:cNvSpPr/>
          <p:nvPr/>
        </p:nvSpPr>
        <p:spPr>
          <a:xfrm rot="21300000">
            <a:off x="895350" y="1911350"/>
            <a:ext cx="1968500" cy="2400300"/>
          </a:xfrm>
          <a:prstGeom prst="roundRect">
            <a:avLst>
              <a:gd name="adj" fmla="val 968"/>
            </a:avLst>
          </a:prstGeom>
          <a:solidFill>
            <a:srgbClr val="FBFAF6"/>
          </a:solidFill>
          <a:ln w="12700">
            <a:solidFill>
              <a:srgbClr val="1B1A17"/>
            </a:solidFill>
            <a:prstDash val="solid"/>
          </a:ln>
          <a:effectLst>
            <a:outerShdw sx="100000" sy="100000" kx="0" ky="0" algn="bl" rotWithShape="0" blurRad="0" dist="89803" dir="2700000">
              <a:srgbClr val="CFC8B8">
                <a:alpha val="100000"/>
              </a:srgbClr>
            </a:outerShdw>
          </a:effectLst>
        </p:spPr>
      </p:sp>
      <p:sp>
        <p:nvSpPr>
          <p:cNvPr id="7" name="Shape 5"/>
          <p:cNvSpPr/>
          <p:nvPr/>
        </p:nvSpPr>
        <p:spPr>
          <a:xfrm rot="21300000">
            <a:off x="1002604" y="2100894"/>
            <a:ext cx="1524000" cy="266700"/>
          </a:xfrm>
          <a:prstGeom prst="roundRect">
            <a:avLst>
              <a:gd name="adj" fmla="val 9524"/>
            </a:avLst>
          </a:prstGeom>
          <a:solidFill>
            <a:srgbClr val="1B1A17"/>
          </a:solidFill>
          <a:ln/>
        </p:spPr>
      </p:sp>
      <p:sp>
        <p:nvSpPr>
          <p:cNvPr id="8" name="Text 6"/>
          <p:cNvSpPr/>
          <p:nvPr/>
        </p:nvSpPr>
        <p:spPr>
          <a:xfrm rot="21300000">
            <a:off x="1079815" y="2124032"/>
            <a:ext cx="1422400"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XLSX · 4 TABLAS</a:t>
            </a:r>
            <a:endParaRPr lang="en-US" sz="1200" dirty="0"/>
          </a:p>
        </p:txBody>
      </p:sp>
      <p:sp>
        <p:nvSpPr>
          <p:cNvPr id="9" name="Text 7"/>
          <p:cNvSpPr/>
          <p:nvPr/>
        </p:nvSpPr>
        <p:spPr>
          <a:xfrm rot="21300000">
            <a:off x="1033797" y="2435598"/>
            <a:ext cx="16510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B1A17"/>
                </a:solidFill>
                <a:latin typeface="Archivo" pitchFamily="34" charset="0"/>
                <a:ea typeface="Archivo" pitchFamily="34" charset="-122"/>
                <a:cs typeface="Archivo" pitchFamily="34" charset="-120"/>
              </a:rPr>
              <a:t>Renta</a:t>
            </a:r>
            <a:endParaRPr lang="en-US" sz="2000" dirty="0"/>
          </a:p>
        </p:txBody>
      </p:sp>
      <p:sp>
        <p:nvSpPr>
          <p:cNvPr id="10" name="Text 8"/>
          <p:cNvSpPr/>
          <p:nvPr/>
        </p:nvSpPr>
        <p:spPr>
          <a:xfrm rot="21300000">
            <a:off x="1061577" y="2791226"/>
            <a:ext cx="165100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INE · Atlas de renta</a:t>
            </a:r>
            <a:endParaRPr lang="en-US" sz="1200" dirty="0"/>
          </a:p>
        </p:txBody>
      </p:sp>
      <p:sp>
        <p:nvSpPr>
          <p:cNvPr id="11" name="Shape 9"/>
          <p:cNvSpPr/>
          <p:nvPr/>
        </p:nvSpPr>
        <p:spPr>
          <a:xfrm rot="21300000">
            <a:off x="1107124" y="3427248"/>
            <a:ext cx="1600200" cy="0"/>
          </a:xfrm>
          <a:prstGeom prst="line">
            <a:avLst/>
          </a:prstGeom>
          <a:noFill/>
          <a:ln w="12700">
            <a:solidFill>
              <a:srgbClr val="CFC8B8"/>
            </a:solidFill>
            <a:prstDash val="dash"/>
          </a:ln>
        </p:spPr>
      </p:sp>
      <p:sp>
        <p:nvSpPr>
          <p:cNvPr id="12" name="Text 10"/>
          <p:cNvSpPr/>
          <p:nvPr/>
        </p:nvSpPr>
        <p:spPr>
          <a:xfrm rot="21300000">
            <a:off x="1142171" y="3506050"/>
            <a:ext cx="1651000" cy="6413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2350"/>
                </a:solidFill>
                <a:latin typeface="IBM Plex Mono" pitchFamily="34" charset="0"/>
                <a:ea typeface="IBM Plex Mono" pitchFamily="34" charset="-122"/>
                <a:cs typeface="IBM Plex Mono" pitchFamily="34" charset="-120"/>
              </a:rPr>
              <a:t>Municipios y secciones, mezclados</a:t>
            </a:r>
            <a:endParaRPr lang="en-US" sz="1200" dirty="0"/>
          </a:p>
        </p:txBody>
      </p:sp>
      <p:sp>
        <p:nvSpPr>
          <p:cNvPr id="13" name="Shape 11"/>
          <p:cNvSpPr/>
          <p:nvPr/>
        </p:nvSpPr>
        <p:spPr>
          <a:xfrm rot="240000">
            <a:off x="3054350" y="2228850"/>
            <a:ext cx="1968500" cy="2400300"/>
          </a:xfrm>
          <a:prstGeom prst="roundRect">
            <a:avLst>
              <a:gd name="adj" fmla="val 968"/>
            </a:avLst>
          </a:prstGeom>
          <a:solidFill>
            <a:srgbClr val="FBFAF6"/>
          </a:solidFill>
          <a:ln w="12700">
            <a:solidFill>
              <a:srgbClr val="1B1A17"/>
            </a:solidFill>
            <a:prstDash val="solid"/>
          </a:ln>
          <a:effectLst>
            <a:outerShdw sx="100000" sy="100000" kx="0" ky="0" algn="bl" rotWithShape="0" blurRad="0" dist="89803" dir="2700000">
              <a:srgbClr val="CFC8B8">
                <a:alpha val="100000"/>
              </a:srgbClr>
            </a:outerShdw>
          </a:effectLst>
        </p:spPr>
      </p:sp>
      <p:sp>
        <p:nvSpPr>
          <p:cNvPr id="14" name="Shape 12"/>
          <p:cNvSpPr/>
          <p:nvPr/>
        </p:nvSpPr>
        <p:spPr>
          <a:xfrm rot="240000">
            <a:off x="3292720" y="2415488"/>
            <a:ext cx="1600200" cy="476250"/>
          </a:xfrm>
          <a:prstGeom prst="roundRect">
            <a:avLst>
              <a:gd name="adj" fmla="val 5333"/>
            </a:avLst>
          </a:prstGeom>
          <a:solidFill>
            <a:srgbClr val="1B1A17"/>
          </a:solidFill>
          <a:ln/>
        </p:spPr>
      </p:sp>
      <p:sp>
        <p:nvSpPr>
          <p:cNvPr id="15" name="Text 13"/>
          <p:cNvSpPr/>
          <p:nvPr/>
        </p:nvSpPr>
        <p:spPr>
          <a:xfrm rot="240000">
            <a:off x="3367973" y="2442629"/>
            <a:ext cx="1498600" cy="4508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XLS · TRIMESTRAL</a:t>
            </a:r>
            <a:endParaRPr lang="en-US" sz="1200" dirty="0"/>
          </a:p>
        </p:txBody>
      </p:sp>
      <p:sp>
        <p:nvSpPr>
          <p:cNvPr id="16" name="Text 14"/>
          <p:cNvSpPr/>
          <p:nvPr/>
        </p:nvSpPr>
        <p:spPr>
          <a:xfrm rot="240000">
            <a:off x="3260060" y="2969167"/>
            <a:ext cx="16510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B1A17"/>
                </a:solidFill>
                <a:latin typeface="Archivo" pitchFamily="34" charset="0"/>
                <a:ea typeface="Archivo" pitchFamily="34" charset="-122"/>
                <a:cs typeface="Archivo" pitchFamily="34" charset="-120"/>
              </a:rPr>
              <a:t>Precio</a:t>
            </a:r>
            <a:endParaRPr lang="en-US" sz="2000" dirty="0"/>
          </a:p>
        </p:txBody>
      </p:sp>
      <p:sp>
        <p:nvSpPr>
          <p:cNvPr id="17" name="Text 15"/>
          <p:cNvSpPr/>
          <p:nvPr/>
        </p:nvSpPr>
        <p:spPr>
          <a:xfrm rot="240000">
            <a:off x="3230652" y="3323046"/>
            <a:ext cx="1651000" cy="4381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Ministerio de Transportes</a:t>
            </a:r>
            <a:endParaRPr lang="en-US" sz="1200" dirty="0"/>
          </a:p>
        </p:txBody>
      </p:sp>
      <p:sp>
        <p:nvSpPr>
          <p:cNvPr id="18" name="Shape 16"/>
          <p:cNvSpPr/>
          <p:nvPr/>
        </p:nvSpPr>
        <p:spPr>
          <a:xfrm rot="240000">
            <a:off x="3202129" y="3949125"/>
            <a:ext cx="1600200" cy="0"/>
          </a:xfrm>
          <a:prstGeom prst="line">
            <a:avLst/>
          </a:prstGeom>
          <a:noFill/>
          <a:ln w="12700">
            <a:solidFill>
              <a:srgbClr val="CFC8B8"/>
            </a:solidFill>
            <a:prstDash val="dash"/>
          </a:ln>
        </p:spPr>
      </p:sp>
      <p:sp>
        <p:nvSpPr>
          <p:cNvPr id="19" name="Text 17"/>
          <p:cNvSpPr/>
          <p:nvPr/>
        </p:nvSpPr>
        <p:spPr>
          <a:xfrm rot="240000">
            <a:off x="3181027" y="4032712"/>
            <a:ext cx="1651000" cy="4381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2350"/>
                </a:solidFill>
                <a:latin typeface="IBM Plex Mono" pitchFamily="34" charset="0"/>
                <a:ea typeface="IBM Plex Mono" pitchFamily="34" charset="-122"/>
                <a:cs typeface="IBM Plex Mono" pitchFamily="34" charset="-120"/>
              </a:rPr>
              <a:t>Otro formato antes de 2010</a:t>
            </a:r>
            <a:endParaRPr lang="en-US" sz="1200" dirty="0"/>
          </a:p>
        </p:txBody>
      </p:sp>
      <p:sp>
        <p:nvSpPr>
          <p:cNvPr id="20" name="Shape 18"/>
          <p:cNvSpPr/>
          <p:nvPr/>
        </p:nvSpPr>
        <p:spPr>
          <a:xfrm rot="21420000">
            <a:off x="5213350" y="1885950"/>
            <a:ext cx="1968500" cy="2400300"/>
          </a:xfrm>
          <a:prstGeom prst="roundRect">
            <a:avLst>
              <a:gd name="adj" fmla="val 968"/>
            </a:avLst>
          </a:prstGeom>
          <a:solidFill>
            <a:srgbClr val="FBFAF6"/>
          </a:solidFill>
          <a:ln w="12700">
            <a:solidFill>
              <a:srgbClr val="1B1A17"/>
            </a:solidFill>
            <a:prstDash val="solid"/>
          </a:ln>
          <a:effectLst>
            <a:outerShdw sx="100000" sy="100000" kx="0" ky="0" algn="bl" rotWithShape="0" blurRad="0" dist="89803" dir="2700000">
              <a:srgbClr val="CFC8B8">
                <a:alpha val="100000"/>
              </a:srgbClr>
            </a:outerShdw>
          </a:effectLst>
        </p:spPr>
      </p:sp>
      <p:sp>
        <p:nvSpPr>
          <p:cNvPr id="21" name="Shape 19"/>
          <p:cNvSpPr/>
          <p:nvPr/>
        </p:nvSpPr>
        <p:spPr>
          <a:xfrm rot="21420000">
            <a:off x="5352226" y="2096276"/>
            <a:ext cx="698500" cy="260350"/>
          </a:xfrm>
          <a:prstGeom prst="roundRect">
            <a:avLst>
              <a:gd name="adj" fmla="val 9756"/>
            </a:avLst>
          </a:prstGeom>
          <a:solidFill>
            <a:srgbClr val="1B1A17"/>
          </a:solidFill>
          <a:ln/>
        </p:spPr>
      </p:sp>
      <p:sp>
        <p:nvSpPr>
          <p:cNvPr id="22" name="Text 20"/>
          <p:cNvSpPr/>
          <p:nvPr/>
        </p:nvSpPr>
        <p:spPr>
          <a:xfrm rot="21420000">
            <a:off x="5429056" y="2120329"/>
            <a:ext cx="596900" cy="23495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F2F0E9"/>
                </a:solidFill>
                <a:latin typeface="IBM Plex Mono" pitchFamily="34" charset="0"/>
                <a:ea typeface="IBM Plex Mono" pitchFamily="34" charset="-122"/>
                <a:cs typeface="IBM Plex Mono" pitchFamily="34" charset="-120"/>
              </a:rPr>
              <a:t>13 CSV</a:t>
            </a:r>
            <a:endParaRPr lang="en-US" sz="1196" dirty="0"/>
          </a:p>
        </p:txBody>
      </p:sp>
      <p:sp>
        <p:nvSpPr>
          <p:cNvPr id="23" name="Text 21"/>
          <p:cNvSpPr/>
          <p:nvPr/>
        </p:nvSpPr>
        <p:spPr>
          <a:xfrm rot="21420000">
            <a:off x="5377274" y="2407388"/>
            <a:ext cx="1651000" cy="5842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B1A17"/>
                </a:solidFill>
                <a:latin typeface="Archivo" pitchFamily="34" charset="0"/>
                <a:ea typeface="Archivo" pitchFamily="34" charset="-122"/>
                <a:cs typeface="Archivo" pitchFamily="34" charset="-120"/>
              </a:rPr>
              <a:t>Pisos turísticos</a:t>
            </a:r>
            <a:endParaRPr lang="en-US" sz="2000" dirty="0"/>
          </a:p>
        </p:txBody>
      </p:sp>
      <p:sp>
        <p:nvSpPr>
          <p:cNvPr id="24" name="Text 22"/>
          <p:cNvSpPr/>
          <p:nvPr/>
        </p:nvSpPr>
        <p:spPr>
          <a:xfrm rot="21420000">
            <a:off x="5406534" y="3041919"/>
            <a:ext cx="1651000" cy="431800"/>
          </a:xfrm>
          <a:prstGeom prst="rect">
            <a:avLst/>
          </a:prstGeom>
          <a:noFill/>
          <a:ln/>
        </p:spPr>
        <p:txBody>
          <a:bodyPr wrap="square" lIns="0" tIns="0" rIns="0" bIns="0" rtlCol="0" anchor="t">
            <a:normAutofit/>
          </a:bodyPr>
          <a:lstStyle/>
          <a:p>
            <a:pPr algn="l" indent="0" marL="0">
              <a:lnSpc>
                <a:spcPts val="1610"/>
              </a:lnSpc>
              <a:buNone/>
            </a:pPr>
            <a:r>
              <a:rPr lang="en-US" sz="1193" dirty="0">
                <a:solidFill>
                  <a:srgbClr val="5A544C"/>
                </a:solidFill>
                <a:latin typeface="Archivo" pitchFamily="34" charset="0"/>
                <a:ea typeface="Archivo" pitchFamily="34" charset="-122"/>
                <a:cs typeface="Archivo" pitchFamily="34" charset="-120"/>
              </a:rPr>
              <a:t>INE · estadística experimental</a:t>
            </a:r>
            <a:endParaRPr lang="en-US" sz="1193" dirty="0"/>
          </a:p>
        </p:txBody>
      </p:sp>
      <p:sp>
        <p:nvSpPr>
          <p:cNvPr id="25" name="Shape 23"/>
          <p:cNvSpPr/>
          <p:nvPr/>
        </p:nvSpPr>
        <p:spPr>
          <a:xfrm rot="21420000">
            <a:off x="5425006" y="3610941"/>
            <a:ext cx="1600200" cy="0"/>
          </a:xfrm>
          <a:prstGeom prst="line">
            <a:avLst/>
          </a:prstGeom>
          <a:noFill/>
          <a:ln w="12700">
            <a:solidFill>
              <a:srgbClr val="CFC8B8"/>
            </a:solidFill>
            <a:prstDash val="dash"/>
          </a:ln>
        </p:spPr>
      </p:sp>
      <p:sp>
        <p:nvSpPr>
          <p:cNvPr id="26" name="Text 24"/>
          <p:cNvSpPr/>
          <p:nvPr/>
        </p:nvSpPr>
        <p:spPr>
          <a:xfrm rot="21420000">
            <a:off x="5440591" y="3691753"/>
            <a:ext cx="1651000" cy="431800"/>
          </a:xfrm>
          <a:prstGeom prst="rect">
            <a:avLst/>
          </a:prstGeom>
          <a:noFill/>
          <a:ln/>
        </p:spPr>
        <p:txBody>
          <a:bodyPr wrap="square" lIns="0" tIns="0" rIns="0" bIns="0" rtlCol="0" anchor="t">
            <a:normAutofit/>
          </a:bodyPr>
          <a:lstStyle/>
          <a:p>
            <a:pPr algn="l" indent="0" marL="0">
              <a:lnSpc>
                <a:spcPts val="1610"/>
              </a:lnSpc>
              <a:buNone/>
            </a:pPr>
            <a:r>
              <a:rPr lang="en-US" sz="1193" dirty="0">
                <a:solidFill>
                  <a:srgbClr val="7A2350"/>
                </a:solidFill>
                <a:latin typeface="IBM Plex Mono" pitchFamily="34" charset="0"/>
                <a:ea typeface="IBM Plex Mono" pitchFamily="34" charset="-122"/>
                <a:cs typeface="IBM Plex Mono" pitchFamily="34" charset="-120"/>
              </a:rPr>
              <a:t>Fotos sueltas desde 2020</a:t>
            </a:r>
            <a:endParaRPr lang="en-US" sz="1193" dirty="0"/>
          </a:p>
        </p:txBody>
      </p:sp>
      <p:sp>
        <p:nvSpPr>
          <p:cNvPr id="27" name="Shape 25"/>
          <p:cNvSpPr/>
          <p:nvPr/>
        </p:nvSpPr>
        <p:spPr>
          <a:xfrm rot="360000">
            <a:off x="7372350" y="2190750"/>
            <a:ext cx="1968500" cy="2400300"/>
          </a:xfrm>
          <a:prstGeom prst="roundRect">
            <a:avLst>
              <a:gd name="adj" fmla="val 968"/>
            </a:avLst>
          </a:prstGeom>
          <a:solidFill>
            <a:srgbClr val="FBFAF6"/>
          </a:solidFill>
          <a:ln w="12700">
            <a:solidFill>
              <a:srgbClr val="1B1A17"/>
            </a:solidFill>
            <a:prstDash val="solid"/>
          </a:ln>
          <a:effectLst>
            <a:outerShdw sx="100000" sy="100000" kx="0" ky="0" algn="bl" rotWithShape="0" blurRad="0" dist="89803" dir="2700000">
              <a:srgbClr val="CFC8B8">
                <a:alpha val="100000"/>
              </a:srgbClr>
            </a:outerShdw>
          </a:effectLst>
        </p:spPr>
      </p:sp>
      <p:sp>
        <p:nvSpPr>
          <p:cNvPr id="28" name="Shape 26"/>
          <p:cNvSpPr/>
          <p:nvPr/>
        </p:nvSpPr>
        <p:spPr>
          <a:xfrm rot="360000">
            <a:off x="7652756" y="2317122"/>
            <a:ext cx="425450" cy="266700"/>
          </a:xfrm>
          <a:prstGeom prst="roundRect">
            <a:avLst>
              <a:gd name="adj" fmla="val 9524"/>
            </a:avLst>
          </a:prstGeom>
          <a:solidFill>
            <a:srgbClr val="1B1A17"/>
          </a:solidFill>
          <a:ln/>
        </p:spPr>
      </p:sp>
      <p:sp>
        <p:nvSpPr>
          <p:cNvPr id="29" name="Text 27"/>
          <p:cNvSpPr/>
          <p:nvPr/>
        </p:nvSpPr>
        <p:spPr>
          <a:xfrm rot="360000">
            <a:off x="7727489" y="2345108"/>
            <a:ext cx="323850"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API</a:t>
            </a:r>
            <a:endParaRPr lang="en-US" sz="1200" dirty="0"/>
          </a:p>
        </p:txBody>
      </p:sp>
      <p:sp>
        <p:nvSpPr>
          <p:cNvPr id="30" name="Text 28"/>
          <p:cNvSpPr/>
          <p:nvPr/>
        </p:nvSpPr>
        <p:spPr>
          <a:xfrm rot="360000">
            <a:off x="7611059" y="2720742"/>
            <a:ext cx="16510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B1A17"/>
                </a:solidFill>
                <a:latin typeface="Archivo" pitchFamily="34" charset="0"/>
                <a:ea typeface="Archivo" pitchFamily="34" charset="-122"/>
                <a:cs typeface="Archivo" pitchFamily="34" charset="-120"/>
              </a:rPr>
              <a:t>Clima</a:t>
            </a:r>
            <a:endParaRPr lang="en-US" sz="2000" dirty="0"/>
          </a:p>
        </p:txBody>
      </p:sp>
      <p:sp>
        <p:nvSpPr>
          <p:cNvPr id="31" name="Text 29"/>
          <p:cNvSpPr/>
          <p:nvPr/>
        </p:nvSpPr>
        <p:spPr>
          <a:xfrm rot="360000">
            <a:off x="7577741" y="3075836"/>
            <a:ext cx="165100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AdapteCCa</a:t>
            </a:r>
            <a:endParaRPr lang="en-US" sz="1200" dirty="0"/>
          </a:p>
        </p:txBody>
      </p:sp>
      <p:sp>
        <p:nvSpPr>
          <p:cNvPr id="32" name="Shape 30"/>
          <p:cNvSpPr/>
          <p:nvPr/>
        </p:nvSpPr>
        <p:spPr>
          <a:xfrm rot="360000">
            <a:off x="7501999" y="3909439"/>
            <a:ext cx="1600200" cy="0"/>
          </a:xfrm>
          <a:prstGeom prst="line">
            <a:avLst/>
          </a:prstGeom>
          <a:noFill/>
          <a:ln w="12700">
            <a:solidFill>
              <a:srgbClr val="CFC8B8"/>
            </a:solidFill>
            <a:prstDash val="dash"/>
          </a:ln>
        </p:spPr>
      </p:sp>
      <p:sp>
        <p:nvSpPr>
          <p:cNvPr id="33" name="Text 31"/>
          <p:cNvSpPr/>
          <p:nvPr/>
        </p:nvSpPr>
        <p:spPr>
          <a:xfrm rot="360000">
            <a:off x="7470332" y="3992991"/>
            <a:ext cx="1651000" cy="4381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2350"/>
                </a:solidFill>
                <a:latin typeface="IBM Plex Mono" pitchFamily="34" charset="0"/>
                <a:ea typeface="IBM Plex Mono" pitchFamily="34" charset="-122"/>
                <a:cs typeface="IBM Plex Mono" pitchFamily="34" charset="-120"/>
              </a:rPr>
              <a:t>Escenarios de varios modelos</a:t>
            </a:r>
            <a:endParaRPr lang="en-US" sz="1200" dirty="0"/>
          </a:p>
        </p:txBody>
      </p:sp>
      <p:sp>
        <p:nvSpPr>
          <p:cNvPr id="34" name="Shape 32"/>
          <p:cNvSpPr/>
          <p:nvPr/>
        </p:nvSpPr>
        <p:spPr>
          <a:xfrm rot="21360000">
            <a:off x="9404350" y="1911350"/>
            <a:ext cx="1968500" cy="2400300"/>
          </a:xfrm>
          <a:prstGeom prst="roundRect">
            <a:avLst>
              <a:gd name="adj" fmla="val 968"/>
            </a:avLst>
          </a:prstGeom>
          <a:solidFill>
            <a:srgbClr val="FBFAF6"/>
          </a:solidFill>
          <a:ln w="12700">
            <a:solidFill>
              <a:srgbClr val="1B1A17"/>
            </a:solidFill>
            <a:prstDash val="solid"/>
          </a:ln>
          <a:effectLst>
            <a:outerShdw sx="100000" sy="100000" kx="0" ky="0" algn="bl" rotWithShape="0" blurRad="0" dist="89803" dir="2700000">
              <a:srgbClr val="CFC8B8">
                <a:alpha val="100000"/>
              </a:srgbClr>
            </a:outerShdw>
          </a:effectLst>
        </p:spPr>
      </p:sp>
      <p:sp>
        <p:nvSpPr>
          <p:cNvPr id="35" name="Shape 33"/>
          <p:cNvSpPr/>
          <p:nvPr/>
        </p:nvSpPr>
        <p:spPr>
          <a:xfrm rot="21360000">
            <a:off x="9526917" y="2134101"/>
            <a:ext cx="520700" cy="266700"/>
          </a:xfrm>
          <a:prstGeom prst="roundRect">
            <a:avLst>
              <a:gd name="adj" fmla="val 9524"/>
            </a:avLst>
          </a:prstGeom>
          <a:solidFill>
            <a:srgbClr val="1B1A17"/>
          </a:solidFill>
          <a:ln/>
        </p:spPr>
      </p:sp>
      <p:sp>
        <p:nvSpPr>
          <p:cNvPr id="36" name="Text 34"/>
          <p:cNvSpPr/>
          <p:nvPr/>
        </p:nvSpPr>
        <p:spPr>
          <a:xfrm rot="21360000">
            <a:off x="9603941" y="2157698"/>
            <a:ext cx="419100" cy="2413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XLSX</a:t>
            </a:r>
            <a:endParaRPr lang="en-US" sz="1200" dirty="0"/>
          </a:p>
        </p:txBody>
      </p:sp>
      <p:sp>
        <p:nvSpPr>
          <p:cNvPr id="37" name="Text 35"/>
          <p:cNvSpPr/>
          <p:nvPr/>
        </p:nvSpPr>
        <p:spPr>
          <a:xfrm rot="21360000">
            <a:off x="9551936" y="2435324"/>
            <a:ext cx="1651000"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B1A17"/>
                </a:solidFill>
                <a:latin typeface="Archivo" pitchFamily="34" charset="0"/>
                <a:ea typeface="Archivo" pitchFamily="34" charset="-122"/>
                <a:cs typeface="Archivo" pitchFamily="34" charset="-120"/>
              </a:rPr>
              <a:t>Alquiler</a:t>
            </a:r>
            <a:endParaRPr lang="en-US" sz="2000" dirty="0"/>
          </a:p>
        </p:txBody>
      </p:sp>
      <p:sp>
        <p:nvSpPr>
          <p:cNvPr id="38" name="Text 36"/>
          <p:cNvSpPr/>
          <p:nvPr/>
        </p:nvSpPr>
        <p:spPr>
          <a:xfrm rot="21360000">
            <a:off x="9574170" y="2791387"/>
            <a:ext cx="1651000" cy="2286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SERPAVI</a:t>
            </a:r>
            <a:endParaRPr lang="en-US" sz="1200" dirty="0"/>
          </a:p>
        </p:txBody>
      </p:sp>
      <p:sp>
        <p:nvSpPr>
          <p:cNvPr id="39" name="Shape 37"/>
          <p:cNvSpPr/>
          <p:nvPr/>
        </p:nvSpPr>
        <p:spPr>
          <a:xfrm rot="21360000">
            <a:off x="9610610" y="3427683"/>
            <a:ext cx="1600200" cy="0"/>
          </a:xfrm>
          <a:prstGeom prst="line">
            <a:avLst/>
          </a:prstGeom>
          <a:noFill/>
          <a:ln w="12700">
            <a:solidFill>
              <a:srgbClr val="CFC8B8"/>
            </a:solidFill>
            <a:prstDash val="dash"/>
          </a:ln>
        </p:spPr>
      </p:sp>
      <p:sp>
        <p:nvSpPr>
          <p:cNvPr id="40" name="Text 38"/>
          <p:cNvSpPr/>
          <p:nvPr/>
        </p:nvSpPr>
        <p:spPr>
          <a:xfrm rot="21360000">
            <a:off x="9638675" y="3507479"/>
            <a:ext cx="1651000" cy="64135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7A2350"/>
                </a:solidFill>
                <a:latin typeface="IBM Plex Mono" pitchFamily="34" charset="0"/>
                <a:ea typeface="IBM Plex Mono" pitchFamily="34" charset="-122"/>
                <a:cs typeface="IBM Plex Mono" pitchFamily="34" charset="-120"/>
              </a:rPr>
              <a:t>«COD_POSTAL» que guarda códigos INE</a:t>
            </a:r>
            <a:endParaRPr lang="en-US" sz="1200" dirty="0"/>
          </a:p>
        </p:txBody>
      </p:sp>
      <p:sp>
        <p:nvSpPr>
          <p:cNvPr id="41" name="Text 39"/>
          <p:cNvSpPr/>
          <p:nvPr/>
        </p:nvSpPr>
        <p:spPr>
          <a:xfrm>
            <a:off x="812800" y="4953000"/>
            <a:ext cx="771779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B1A17"/>
                </a:solidFill>
                <a:latin typeface="Archivo" pitchFamily="34" charset="0"/>
                <a:ea typeface="Archivo" pitchFamily="34" charset="-122"/>
                <a:cs typeface="Archivo" pitchFamily="34" charset="-120"/>
              </a:rPr>
              <a:t>Cinco organismos, 71 ficheros y </a:t>
            </a:r>
            <a:r>
              <a:rPr lang="en-US" sz="1600" b="1" dirty="0">
                <a:solidFill>
                  <a:srgbClr val="1B1A17"/>
                </a:solidFill>
                <a:latin typeface="Archivo" pitchFamily="34" charset="0"/>
                <a:ea typeface="Archivo" pitchFamily="34" charset="-122"/>
                <a:cs typeface="Archivo" pitchFamily="34" charset="-120"/>
              </a:rPr>
              <a:t>ninguna comparación que lo junte todo</a:t>
            </a:r>
            <a:r>
              <a:rPr lang="en-US" sz="1600" dirty="0">
                <a:solidFill>
                  <a:srgbClr val="1B1A17"/>
                </a:solidFill>
                <a:latin typeface="Archivo" pitchFamily="34" charset="0"/>
                <a:ea typeface="Archivo" pitchFamily="34" charset="-122"/>
                <a:cs typeface="Archivo" pitchFamily="34" charset="-120"/>
              </a:rPr>
              <a:t>. Y habría que rehacerlo con cada dato nuevo.</a:t>
            </a:r>
            <a:endParaRPr lang="en-US" sz="1600" dirty="0"/>
          </a:p>
        </p:txBody>
      </p:sp>
      <p:sp>
        <p:nvSpPr>
          <p:cNvPr id="42" name="Shape 40"/>
          <p:cNvSpPr/>
          <p:nvPr/>
        </p:nvSpPr>
        <p:spPr>
          <a:xfrm rot="21240000">
            <a:off x="8902700" y="4939010"/>
            <a:ext cx="2387600" cy="520700"/>
          </a:xfrm>
          <a:prstGeom prst="roundRect">
            <a:avLst>
              <a:gd name="adj" fmla="val 4878"/>
            </a:avLst>
          </a:prstGeom>
          <a:noFill/>
          <a:ln w="25400">
            <a:solidFill>
              <a:srgbClr val="7A2350"/>
            </a:solidFill>
            <a:prstDash val="solid"/>
          </a:ln>
        </p:spPr>
      </p:sp>
      <p:sp>
        <p:nvSpPr>
          <p:cNvPr id="43" name="Text 41"/>
          <p:cNvSpPr/>
          <p:nvPr/>
        </p:nvSpPr>
        <p:spPr>
          <a:xfrm rot="21240000">
            <a:off x="8985943" y="5002441"/>
            <a:ext cx="2223770" cy="419100"/>
          </a:xfrm>
          <a:prstGeom prst="rect">
            <a:avLst/>
          </a:prstGeom>
          <a:noFill/>
          <a:ln/>
        </p:spPr>
        <p:txBody>
          <a:bodyPr wrap="square" lIns="0" tIns="0" rIns="0" bIns="0" rtlCol="0" anchor="t">
            <a:normAutofit/>
          </a:bodyPr>
          <a:lstStyle/>
          <a:p>
            <a:pPr algn="ctr" indent="0" marL="0">
              <a:lnSpc>
                <a:spcPts val="3080"/>
              </a:lnSpc>
              <a:buNone/>
            </a:pPr>
            <a:r>
              <a:rPr lang="en-US" sz="2200" b="1" spc="100" kern="0" dirty="0">
                <a:solidFill>
                  <a:srgbClr val="7A2350"/>
                </a:solidFill>
                <a:latin typeface="IBM Plex Mono" pitchFamily="34" charset="0"/>
                <a:ea typeface="IBM Plex Mono" pitchFamily="34" charset="-122"/>
                <a:cs typeface="IBM Plex Mono" pitchFamily="34" charset="-120"/>
              </a:rPr>
              <a:t>NO ENCAJAN</a:t>
            </a:r>
            <a:endParaRPr lang="en-US" sz="2200" dirty="0"/>
          </a:p>
        </p:txBody>
      </p:sp>
      <p:sp>
        <p:nvSpPr>
          <p:cNvPr id="44" name="Text 4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Contexto: la Ley 12/2023 pide datos objetivos para declarar zonas tensionadas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04 · AHORA</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04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Celia abre un mapa</a:t>
            </a:r>
            <a:endParaRPr lang="en-US" sz="3600" dirty="0"/>
          </a:p>
        </p:txBody>
      </p:sp>
      <p:pic>
        <p:nvPicPr>
          <p:cNvPr id="6" name="Image 0" descr="Aplicación: mapa nacional de presión residencial con la lista de los diez municipios con más presión">    </p:cNvPr>
          <p:cNvPicPr>
            <a:picLocks noChangeAspect="1"/>
          </p:cNvPicPr>
          <p:nvPr/>
        </p:nvPicPr>
        <p:blipFill>
          <a:blip r:embed="rId1"/>
          <a:srcRect l="0" r="0" t="163" b="163"/>
          <a:stretch/>
        </p:blipFill>
        <p:spPr>
          <a:xfrm>
            <a:off x="825500" y="1892300"/>
            <a:ext cx="6070600" cy="3403600"/>
          </a:xfrm>
          <a:prstGeom prst="rect">
            <a:avLst/>
          </a:prstGeom>
        </p:spPr>
      </p:pic>
      <p:sp>
        <p:nvSpPr>
          <p:cNvPr id="7" name="Shape 4"/>
          <p:cNvSpPr/>
          <p:nvPr/>
        </p:nvSpPr>
        <p:spPr>
          <a:xfrm>
            <a:off x="819150" y="1885950"/>
            <a:ext cx="6083300" cy="3416300"/>
          </a:xfrm>
          <a:prstGeom prst="rect">
            <a:avLst/>
          </a:prstGeom>
          <a:noFill/>
          <a:ln w="12700">
            <a:solidFill>
              <a:srgbClr val="1B1A17"/>
            </a:solidFill>
            <a:prstDash val="solid"/>
          </a:ln>
        </p:spPr>
      </p:sp>
      <p:sp>
        <p:nvSpPr>
          <p:cNvPr id="8" name="Shape 5"/>
          <p:cNvSpPr/>
          <p:nvPr/>
        </p:nvSpPr>
        <p:spPr>
          <a:xfrm>
            <a:off x="7213600" y="1885950"/>
            <a:ext cx="4165600" cy="0"/>
          </a:xfrm>
          <a:prstGeom prst="line">
            <a:avLst/>
          </a:prstGeom>
          <a:noFill/>
          <a:ln w="12700">
            <a:solidFill>
              <a:srgbClr val="1B1A17"/>
            </a:solidFill>
            <a:prstDash val="solid"/>
          </a:ln>
        </p:spPr>
      </p:sp>
      <p:sp>
        <p:nvSpPr>
          <p:cNvPr id="9" name="Text 6"/>
          <p:cNvSpPr/>
          <p:nvPr/>
        </p:nvSpPr>
        <p:spPr>
          <a:xfrm>
            <a:off x="7213600" y="1993900"/>
            <a:ext cx="233759" cy="5231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01</a:t>
            </a:r>
            <a:endParaRPr lang="en-US" sz="1200" dirty="0"/>
          </a:p>
        </p:txBody>
      </p:sp>
      <p:sp>
        <p:nvSpPr>
          <p:cNvPr id="10" name="Text 7"/>
          <p:cNvSpPr/>
          <p:nvPr/>
        </p:nvSpPr>
        <p:spPr>
          <a:xfrm>
            <a:off x="7523559" y="1993900"/>
            <a:ext cx="397131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Elige qué presión ver</a:t>
            </a:r>
            <a:endParaRPr lang="en-US" sz="1600" dirty="0"/>
          </a:p>
        </p:txBody>
      </p:sp>
      <p:sp>
        <p:nvSpPr>
          <p:cNvPr id="11" name="Text 8"/>
          <p:cNvSpPr/>
          <p:nvPr/>
        </p:nvSpPr>
        <p:spPr>
          <a:xfrm>
            <a:off x="7523559" y="2286000"/>
            <a:ext cx="39713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La total o cada una de sus capas</a:t>
            </a:r>
            <a:endParaRPr lang="en-US" sz="1200" dirty="0"/>
          </a:p>
        </p:txBody>
      </p:sp>
      <p:sp>
        <p:nvSpPr>
          <p:cNvPr id="12" name="Shape 9"/>
          <p:cNvSpPr/>
          <p:nvPr/>
        </p:nvSpPr>
        <p:spPr>
          <a:xfrm>
            <a:off x="7213600" y="2673350"/>
            <a:ext cx="4165600" cy="0"/>
          </a:xfrm>
          <a:prstGeom prst="line">
            <a:avLst/>
          </a:prstGeom>
          <a:noFill/>
          <a:ln w="12700">
            <a:solidFill>
              <a:srgbClr val="1B1A17"/>
            </a:solidFill>
            <a:prstDash val="solid"/>
          </a:ln>
        </p:spPr>
      </p:sp>
      <p:sp>
        <p:nvSpPr>
          <p:cNvPr id="13" name="Text 10"/>
          <p:cNvSpPr/>
          <p:nvPr/>
        </p:nvSpPr>
        <p:spPr>
          <a:xfrm>
            <a:off x="7213600" y="2781300"/>
            <a:ext cx="233759" cy="5231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02</a:t>
            </a:r>
            <a:endParaRPr lang="en-US" sz="1200" dirty="0"/>
          </a:p>
        </p:txBody>
      </p:sp>
      <p:sp>
        <p:nvSpPr>
          <p:cNvPr id="14" name="Text 11"/>
          <p:cNvSpPr/>
          <p:nvPr/>
        </p:nvSpPr>
        <p:spPr>
          <a:xfrm>
            <a:off x="7523559" y="2781300"/>
            <a:ext cx="397131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Hoy o con riesgo futuro</a:t>
            </a:r>
            <a:endParaRPr lang="en-US" sz="1600" dirty="0"/>
          </a:p>
        </p:txBody>
      </p:sp>
      <p:sp>
        <p:nvSpPr>
          <p:cNvPr id="15" name="Text 12"/>
          <p:cNvSpPr/>
          <p:nvPr/>
        </p:nvSpPr>
        <p:spPr>
          <a:xfrm>
            <a:off x="7523559" y="3073400"/>
            <a:ext cx="39713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Un clic añade el escenario climático</a:t>
            </a:r>
            <a:endParaRPr lang="en-US" sz="1200" dirty="0"/>
          </a:p>
        </p:txBody>
      </p:sp>
      <p:sp>
        <p:nvSpPr>
          <p:cNvPr id="16" name="Shape 13"/>
          <p:cNvSpPr/>
          <p:nvPr/>
        </p:nvSpPr>
        <p:spPr>
          <a:xfrm>
            <a:off x="7213600" y="3460750"/>
            <a:ext cx="4165600" cy="0"/>
          </a:xfrm>
          <a:prstGeom prst="line">
            <a:avLst/>
          </a:prstGeom>
          <a:noFill/>
          <a:ln w="12700">
            <a:solidFill>
              <a:srgbClr val="1B1A17"/>
            </a:solidFill>
            <a:prstDash val="solid"/>
          </a:ln>
        </p:spPr>
      </p:sp>
      <p:sp>
        <p:nvSpPr>
          <p:cNvPr id="17" name="Text 14"/>
          <p:cNvSpPr/>
          <p:nvPr/>
        </p:nvSpPr>
        <p:spPr>
          <a:xfrm>
            <a:off x="7213600" y="3568700"/>
            <a:ext cx="233759" cy="5231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03</a:t>
            </a:r>
            <a:endParaRPr lang="en-US" sz="1200" dirty="0"/>
          </a:p>
        </p:txBody>
      </p:sp>
      <p:sp>
        <p:nvSpPr>
          <p:cNvPr id="18" name="Text 15"/>
          <p:cNvSpPr/>
          <p:nvPr/>
        </p:nvSpPr>
        <p:spPr>
          <a:xfrm>
            <a:off x="7523559" y="3568700"/>
            <a:ext cx="397131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Los diez primeros, a mano</a:t>
            </a:r>
            <a:endParaRPr lang="en-US" sz="1600" dirty="0"/>
          </a:p>
        </p:txBody>
      </p:sp>
      <p:sp>
        <p:nvSpPr>
          <p:cNvPr id="19" name="Text 16"/>
          <p:cNvSpPr/>
          <p:nvPr/>
        </p:nvSpPr>
        <p:spPr>
          <a:xfrm>
            <a:off x="7523559" y="3860800"/>
            <a:ext cx="39713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Y la relación completa de los 306</a:t>
            </a:r>
            <a:endParaRPr lang="en-US" sz="1200" dirty="0"/>
          </a:p>
        </p:txBody>
      </p:sp>
      <p:sp>
        <p:nvSpPr>
          <p:cNvPr id="20" name="Shape 17"/>
          <p:cNvSpPr/>
          <p:nvPr/>
        </p:nvSpPr>
        <p:spPr>
          <a:xfrm>
            <a:off x="7213600" y="4248150"/>
            <a:ext cx="4165600" cy="0"/>
          </a:xfrm>
          <a:prstGeom prst="line">
            <a:avLst/>
          </a:prstGeom>
          <a:noFill/>
          <a:ln w="12700">
            <a:solidFill>
              <a:srgbClr val="1B1A17"/>
            </a:solidFill>
            <a:prstDash val="solid"/>
          </a:ln>
        </p:spPr>
      </p:sp>
      <p:sp>
        <p:nvSpPr>
          <p:cNvPr id="21" name="Text 18"/>
          <p:cNvSpPr/>
          <p:nvPr/>
        </p:nvSpPr>
        <p:spPr>
          <a:xfrm>
            <a:off x="7213600" y="4356100"/>
            <a:ext cx="233759" cy="5231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04</a:t>
            </a:r>
            <a:endParaRPr lang="en-US" sz="1200" dirty="0"/>
          </a:p>
        </p:txBody>
      </p:sp>
      <p:sp>
        <p:nvSpPr>
          <p:cNvPr id="22" name="Text 19"/>
          <p:cNvSpPr/>
          <p:nvPr/>
        </p:nvSpPr>
        <p:spPr>
          <a:xfrm>
            <a:off x="7523559" y="4356100"/>
            <a:ext cx="3971310"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Una frase que lo resume</a:t>
            </a:r>
            <a:endParaRPr lang="en-US" sz="1600" dirty="0"/>
          </a:p>
        </p:txBody>
      </p:sp>
      <p:sp>
        <p:nvSpPr>
          <p:cNvPr id="23" name="Text 20"/>
          <p:cNvSpPr/>
          <p:nvPr/>
        </p:nvSpPr>
        <p:spPr>
          <a:xfrm>
            <a:off x="7523559" y="4648200"/>
            <a:ext cx="3971310"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Calculada con lo que hay en pantalla</a:t>
            </a:r>
            <a:endParaRPr lang="en-US" sz="1200" dirty="0"/>
          </a:p>
        </p:txBody>
      </p:sp>
      <p:sp>
        <p:nvSpPr>
          <p:cNvPr id="24" name="Text 2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Captura de la aplicación · vista Mapa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1EC"/>
        </a:solidFill>
      </p:bgPr>
    </p:bg>
    <p:spTree>
      <p:nvGrpSpPr>
        <p:cNvPr id="1" name=""/>
        <p:cNvGrpSpPr/>
        <p:nvPr/>
      </p:nvGrpSpPr>
      <p:grpSpPr>
        <a:xfrm>
          <a:off x="0" y="0"/>
          <a:ext cx="0" cy="0"/>
          <a:chOff x="0" y="0"/>
          <a:chExt cx="0" cy="0"/>
        </a:xfrm>
      </p:grpSpPr>
      <p:pic>
        <p:nvPicPr>
          <p:cNvPr id="2" name="Image 0" descr="Aplicación a pantalla completa: mapa nacional de presión residencial">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1EC"/>
        </a:solidFill>
      </p:bgPr>
    </p:bg>
    <p:spTree>
      <p:nvGrpSpPr>
        <p:cNvPr id="1" name=""/>
        <p:cNvGrpSpPr/>
        <p:nvPr/>
      </p:nvGrpSpPr>
      <p:grpSpPr>
        <a:xfrm>
          <a:off x="0" y="0"/>
          <a:ext cx="0" cy="0"/>
          <a:chOff x="0" y="0"/>
          <a:chExt cx="0" cy="0"/>
        </a:xfrm>
      </p:grpSpPr>
      <p:pic>
        <p:nvPicPr>
          <p:cNvPr id="2" name="Image 0" descr="Ficha municipal de Málaga a pantalla completa">    </p:cNvPr>
          <p:cNvPicPr>
            <a:picLocks noChangeAspect="1"/>
          </p:cNvPicPr>
          <p:nvPr/>
        </p:nvPicPr>
        <p:blipFill>
          <a:blip r:embed="rId1"/>
          <a:srcRect l="0" r="0" t="0" b="0"/>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05 · EL PORQUÉ</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05 / 11</a:t>
            </a:r>
            <a:endParaRPr lang="en-US" sz="1200" dirty="0"/>
          </a:p>
        </p:txBody>
      </p:sp>
      <p:pic>
        <p:nvPicPr>
          <p:cNvPr id="5" name="Image 0" descr="Ficha municipal de Málaga: cuadro de factores, situación frente al entorno y serie histórica">    </p:cNvPr>
          <p:cNvPicPr>
            <a:picLocks noChangeAspect="1"/>
          </p:cNvPicPr>
          <p:nvPr/>
        </p:nvPicPr>
        <p:blipFill>
          <a:blip r:embed="rId1"/>
          <a:srcRect l="0" r="0" t="141" b="141"/>
          <a:stretch/>
        </p:blipFill>
        <p:spPr>
          <a:xfrm>
            <a:off x="825500" y="1917700"/>
            <a:ext cx="5003800" cy="2806700"/>
          </a:xfrm>
          <a:prstGeom prst="rect">
            <a:avLst/>
          </a:prstGeom>
        </p:spPr>
      </p:pic>
      <p:sp>
        <p:nvSpPr>
          <p:cNvPr id="6" name="Shape 3"/>
          <p:cNvSpPr/>
          <p:nvPr/>
        </p:nvSpPr>
        <p:spPr>
          <a:xfrm>
            <a:off x="819150" y="1911350"/>
            <a:ext cx="5016500" cy="2819400"/>
          </a:xfrm>
          <a:prstGeom prst="rect">
            <a:avLst/>
          </a:prstGeom>
          <a:noFill/>
          <a:ln w="12700">
            <a:solidFill>
              <a:srgbClr val="1B1A17"/>
            </a:solidFill>
            <a:prstDash val="solid"/>
          </a:ln>
        </p:spPr>
      </p:sp>
      <p:sp>
        <p:nvSpPr>
          <p:cNvPr id="7" name="Text 4"/>
          <p:cNvSpPr/>
          <p:nvPr/>
        </p:nvSpPr>
        <p:spPr>
          <a:xfrm>
            <a:off x="6045200" y="1117600"/>
            <a:ext cx="5494020"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Y entiende por qué</a:t>
            </a:r>
            <a:endParaRPr lang="en-US" sz="3600" dirty="0"/>
          </a:p>
        </p:txBody>
      </p:sp>
      <p:sp>
        <p:nvSpPr>
          <p:cNvPr id="8" name="Text 5"/>
          <p:cNvSpPr/>
          <p:nvPr/>
        </p:nvSpPr>
        <p:spPr>
          <a:xfrm>
            <a:off x="6045200" y="1772841"/>
            <a:ext cx="549402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EJEMPLO · MÁLAGA</a:t>
            </a:r>
            <a:endParaRPr lang="en-US" sz="1200" dirty="0"/>
          </a:p>
        </p:txBody>
      </p:sp>
      <p:sp>
        <p:nvSpPr>
          <p:cNvPr id="9" name="Text 6"/>
          <p:cNvSpPr/>
          <p:nvPr/>
        </p:nvSpPr>
        <p:spPr>
          <a:xfrm>
            <a:off x="6045200" y="2138561"/>
            <a:ext cx="1831953"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1B1A17"/>
                </a:solidFill>
                <a:latin typeface="Archivo Black" pitchFamily="34" charset="0"/>
                <a:ea typeface="Archivo Black" pitchFamily="34" charset="-122"/>
                <a:cs typeface="Archivo Black" pitchFamily="34" charset="-120"/>
              </a:rPr>
              <a:t>90,4</a:t>
            </a:r>
            <a:endParaRPr lang="en-US" sz="6000" dirty="0"/>
          </a:p>
        </p:txBody>
      </p:sp>
      <p:sp>
        <p:nvSpPr>
          <p:cNvPr id="10" name="Text 7"/>
          <p:cNvSpPr/>
          <p:nvPr/>
        </p:nvSpPr>
        <p:spPr>
          <a:xfrm>
            <a:off x="8001595" y="2265561"/>
            <a:ext cx="1650603" cy="533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B1A17"/>
                </a:solidFill>
                <a:latin typeface="Archivo" pitchFamily="34" charset="0"/>
                <a:ea typeface="Archivo" pitchFamily="34" charset="-122"/>
                <a:cs typeface="Archivo" pitchFamily="34" charset="-120"/>
              </a:rPr>
              <a:t>Puesto 2 de 306</a:t>
            </a:r>
            <a:endParaRPr lang="en-US" sz="1600" dirty="0"/>
          </a:p>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Presión muy alta</a:t>
            </a:r>
            <a:endParaRPr lang="en-US" sz="1600" dirty="0"/>
          </a:p>
        </p:txBody>
      </p:sp>
      <p:sp>
        <p:nvSpPr>
          <p:cNvPr id="11" name="Text 8"/>
          <p:cNvSpPr/>
          <p:nvPr/>
        </p:nvSpPr>
        <p:spPr>
          <a:xfrm>
            <a:off x="6045200" y="3052961"/>
            <a:ext cx="5494020" cy="57388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B1A17"/>
                </a:solidFill>
                <a:latin typeface="Archivo" pitchFamily="34" charset="0"/>
                <a:ea typeface="Archivo" pitchFamily="34" charset="-122"/>
                <a:cs typeface="Archivo" pitchFamily="34" charset="-120"/>
              </a:rPr>
              <a:t>Todas sus capas son altas a la vez. La que más destaca es el </a:t>
            </a:r>
            <a:r>
              <a:rPr lang="en-US" sz="1600" b="1" dirty="0">
                <a:solidFill>
                  <a:srgbClr val="1B1A17"/>
                </a:solidFill>
                <a:latin typeface="Archivo" pitchFamily="34" charset="0"/>
                <a:ea typeface="Archivo" pitchFamily="34" charset="-122"/>
                <a:cs typeface="Archivo" pitchFamily="34" charset="-120"/>
              </a:rPr>
              <a:t>desplazamiento vecinal</a:t>
            </a:r>
            <a:r>
              <a:rPr lang="en-US" sz="1600" dirty="0">
                <a:solidFill>
                  <a:srgbClr val="1B1A17"/>
                </a:solidFill>
                <a:latin typeface="Archivo" pitchFamily="34" charset="0"/>
                <a:ea typeface="Archivo" pitchFamily="34" charset="-122"/>
                <a:cs typeface="Archivo" pitchFamily="34" charset="-120"/>
              </a:rPr>
              <a:t>: por ahí empieza su estudio.</a:t>
            </a:r>
            <a:endParaRPr lang="en-US" sz="1600" dirty="0"/>
          </a:p>
        </p:txBody>
      </p:sp>
      <p:sp>
        <p:nvSpPr>
          <p:cNvPr id="12" name="Shape 9"/>
          <p:cNvSpPr/>
          <p:nvPr/>
        </p:nvSpPr>
        <p:spPr>
          <a:xfrm>
            <a:off x="6045200" y="3760192"/>
            <a:ext cx="5334000" cy="0"/>
          </a:xfrm>
          <a:prstGeom prst="line">
            <a:avLst/>
          </a:prstGeom>
          <a:noFill/>
          <a:ln w="12700">
            <a:solidFill>
              <a:srgbClr val="1B1A17"/>
            </a:solidFill>
            <a:prstDash val="solid"/>
          </a:ln>
        </p:spPr>
      </p:sp>
      <p:sp>
        <p:nvSpPr>
          <p:cNvPr id="13" name="Text 10"/>
          <p:cNvSpPr/>
          <p:nvPr/>
        </p:nvSpPr>
        <p:spPr>
          <a:xfrm>
            <a:off x="6045200" y="3868142"/>
            <a:ext cx="549402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Qué la compone · cómo está frente a su provincia · cómo ha evolucionado desde 2020</a:t>
            </a:r>
            <a:endParaRPr lang="en-US" sz="1200" dirty="0"/>
          </a:p>
        </p:txBody>
      </p:sp>
      <p:sp>
        <p:nvSpPr>
          <p:cNvPr id="14" name="Text 11"/>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Captura de la aplicación · ficha municipal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06 · MATICES</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06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El número no basta</a:t>
            </a:r>
            <a:endParaRPr lang="en-US" sz="3600" dirty="0"/>
          </a:p>
        </p:txBody>
      </p:sp>
      <p:sp>
        <p:nvSpPr>
          <p:cNvPr id="6" name="Text 4"/>
          <p:cNvSpPr/>
          <p:nvPr/>
        </p:nvSpPr>
        <p:spPr>
          <a:xfrm>
            <a:off x="812800" y="1879600"/>
            <a:ext cx="19621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A17"/>
                </a:solidFill>
                <a:latin typeface="Archivo" pitchFamily="34" charset="0"/>
                <a:ea typeface="Archivo" pitchFamily="34" charset="-122"/>
                <a:cs typeface="Archivo" pitchFamily="34" charset="-120"/>
              </a:rPr>
              <a:t>Málaga</a:t>
            </a:r>
            <a:endParaRPr lang="en-US" sz="1600" dirty="0"/>
          </a:p>
        </p:txBody>
      </p:sp>
      <p:sp>
        <p:nvSpPr>
          <p:cNvPr id="7" name="Text 5"/>
          <p:cNvSpPr/>
          <p:nvPr/>
        </p:nvSpPr>
        <p:spPr>
          <a:xfrm>
            <a:off x="812800" y="213608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Nº 2 de 306</a:t>
            </a:r>
            <a:endParaRPr lang="en-US" sz="1200" dirty="0"/>
          </a:p>
        </p:txBody>
      </p:sp>
      <p:sp>
        <p:nvSpPr>
          <p:cNvPr id="8" name="Shape 6"/>
          <p:cNvSpPr/>
          <p:nvPr/>
        </p:nvSpPr>
        <p:spPr>
          <a:xfrm>
            <a:off x="2870200" y="1911251"/>
            <a:ext cx="7264400" cy="406400"/>
          </a:xfrm>
          <a:prstGeom prst="rect">
            <a:avLst/>
          </a:prstGeom>
          <a:solidFill>
            <a:srgbClr val="E6E1D4"/>
          </a:solidFill>
          <a:ln/>
        </p:spPr>
      </p:sp>
      <p:sp>
        <p:nvSpPr>
          <p:cNvPr id="9" name="Shape 7"/>
          <p:cNvSpPr/>
          <p:nvPr/>
        </p:nvSpPr>
        <p:spPr>
          <a:xfrm>
            <a:off x="2870200" y="1911251"/>
            <a:ext cx="2305050" cy="406400"/>
          </a:xfrm>
          <a:prstGeom prst="rect">
            <a:avLst/>
          </a:prstGeom>
          <a:solidFill>
            <a:srgbClr val="5E1A3C"/>
          </a:solidFill>
          <a:ln/>
        </p:spPr>
      </p:sp>
      <p:sp>
        <p:nvSpPr>
          <p:cNvPr id="10" name="Shape 8"/>
          <p:cNvSpPr/>
          <p:nvPr/>
        </p:nvSpPr>
        <p:spPr>
          <a:xfrm>
            <a:off x="5175250" y="1911251"/>
            <a:ext cx="1498600" cy="406400"/>
          </a:xfrm>
          <a:prstGeom prst="rect">
            <a:avLst/>
          </a:prstGeom>
          <a:solidFill>
            <a:srgbClr val="B26A8B"/>
          </a:solidFill>
          <a:ln/>
        </p:spPr>
      </p:sp>
      <p:sp>
        <p:nvSpPr>
          <p:cNvPr id="11" name="Shape 9"/>
          <p:cNvSpPr/>
          <p:nvPr/>
        </p:nvSpPr>
        <p:spPr>
          <a:xfrm>
            <a:off x="6673850" y="1911251"/>
            <a:ext cx="1517650" cy="406400"/>
          </a:xfrm>
          <a:prstGeom prst="rect">
            <a:avLst/>
          </a:prstGeom>
          <a:solidFill>
            <a:srgbClr val="1F5C63"/>
          </a:solidFill>
          <a:ln/>
        </p:spPr>
      </p:sp>
      <p:sp>
        <p:nvSpPr>
          <p:cNvPr id="12" name="Shape 10"/>
          <p:cNvSpPr/>
          <p:nvPr/>
        </p:nvSpPr>
        <p:spPr>
          <a:xfrm>
            <a:off x="8191500" y="1911251"/>
            <a:ext cx="1244600" cy="406400"/>
          </a:xfrm>
          <a:prstGeom prst="rect">
            <a:avLst/>
          </a:prstGeom>
          <a:solidFill>
            <a:srgbClr val="D9A441"/>
          </a:solidFill>
          <a:ln/>
        </p:spPr>
      </p:sp>
      <p:sp>
        <p:nvSpPr>
          <p:cNvPr id="13" name="Text 11"/>
          <p:cNvSpPr/>
          <p:nvPr/>
        </p:nvSpPr>
        <p:spPr>
          <a:xfrm>
            <a:off x="10236200" y="1918891"/>
            <a:ext cx="100330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B1A17"/>
                </a:solidFill>
                <a:latin typeface="Archivo Black" pitchFamily="34" charset="0"/>
                <a:ea typeface="Archivo Black" pitchFamily="34" charset="-122"/>
                <a:cs typeface="Archivo Black" pitchFamily="34" charset="-120"/>
              </a:rPr>
              <a:t>90,4</a:t>
            </a:r>
            <a:endParaRPr lang="en-US" sz="2200" dirty="0"/>
          </a:p>
        </p:txBody>
      </p:sp>
      <p:sp>
        <p:nvSpPr>
          <p:cNvPr id="14" name="Text 12"/>
          <p:cNvSpPr/>
          <p:nvPr/>
        </p:nvSpPr>
        <p:spPr>
          <a:xfrm>
            <a:off x="812800" y="2489200"/>
            <a:ext cx="19621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A17"/>
                </a:solidFill>
                <a:latin typeface="Archivo" pitchFamily="34" charset="0"/>
                <a:ea typeface="Archivo" pitchFamily="34" charset="-122"/>
                <a:cs typeface="Archivo" pitchFamily="34" charset="-120"/>
              </a:rPr>
              <a:t>Valencia</a:t>
            </a:r>
            <a:endParaRPr lang="en-US" sz="1600" dirty="0"/>
          </a:p>
        </p:txBody>
      </p:sp>
      <p:sp>
        <p:nvSpPr>
          <p:cNvPr id="15" name="Text 13"/>
          <p:cNvSpPr/>
          <p:nvPr/>
        </p:nvSpPr>
        <p:spPr>
          <a:xfrm>
            <a:off x="812800" y="274568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Nº 30 de 306</a:t>
            </a:r>
            <a:endParaRPr lang="en-US" sz="1200" dirty="0"/>
          </a:p>
        </p:txBody>
      </p:sp>
      <p:sp>
        <p:nvSpPr>
          <p:cNvPr id="16" name="Shape 14"/>
          <p:cNvSpPr/>
          <p:nvPr/>
        </p:nvSpPr>
        <p:spPr>
          <a:xfrm>
            <a:off x="2870200" y="2520851"/>
            <a:ext cx="7264400" cy="406400"/>
          </a:xfrm>
          <a:prstGeom prst="rect">
            <a:avLst/>
          </a:prstGeom>
          <a:solidFill>
            <a:srgbClr val="E6E1D4"/>
          </a:solidFill>
          <a:ln/>
        </p:spPr>
      </p:sp>
      <p:sp>
        <p:nvSpPr>
          <p:cNvPr id="17" name="Shape 15"/>
          <p:cNvSpPr/>
          <p:nvPr/>
        </p:nvSpPr>
        <p:spPr>
          <a:xfrm>
            <a:off x="2870200" y="2520851"/>
            <a:ext cx="1676400" cy="406400"/>
          </a:xfrm>
          <a:prstGeom prst="rect">
            <a:avLst/>
          </a:prstGeom>
          <a:solidFill>
            <a:srgbClr val="5E1A3C"/>
          </a:solidFill>
          <a:ln/>
        </p:spPr>
      </p:sp>
      <p:sp>
        <p:nvSpPr>
          <p:cNvPr id="18" name="Shape 16"/>
          <p:cNvSpPr/>
          <p:nvPr/>
        </p:nvSpPr>
        <p:spPr>
          <a:xfrm>
            <a:off x="4546600" y="2520851"/>
            <a:ext cx="1511300" cy="406400"/>
          </a:xfrm>
          <a:prstGeom prst="rect">
            <a:avLst/>
          </a:prstGeom>
          <a:solidFill>
            <a:srgbClr val="B26A8B"/>
          </a:solidFill>
          <a:ln/>
        </p:spPr>
      </p:sp>
      <p:sp>
        <p:nvSpPr>
          <p:cNvPr id="19" name="Shape 17"/>
          <p:cNvSpPr/>
          <p:nvPr/>
        </p:nvSpPr>
        <p:spPr>
          <a:xfrm>
            <a:off x="6057900" y="2520851"/>
            <a:ext cx="1511300" cy="406400"/>
          </a:xfrm>
          <a:prstGeom prst="rect">
            <a:avLst/>
          </a:prstGeom>
          <a:solidFill>
            <a:srgbClr val="1F5C63"/>
          </a:solidFill>
          <a:ln/>
        </p:spPr>
      </p:sp>
      <p:sp>
        <p:nvSpPr>
          <p:cNvPr id="20" name="Shape 18"/>
          <p:cNvSpPr/>
          <p:nvPr/>
        </p:nvSpPr>
        <p:spPr>
          <a:xfrm>
            <a:off x="7569200" y="2520851"/>
            <a:ext cx="850900" cy="406400"/>
          </a:xfrm>
          <a:prstGeom prst="rect">
            <a:avLst/>
          </a:prstGeom>
          <a:solidFill>
            <a:srgbClr val="D9A441"/>
          </a:solidFill>
          <a:ln/>
        </p:spPr>
      </p:sp>
      <p:sp>
        <p:nvSpPr>
          <p:cNvPr id="21" name="Text 19"/>
          <p:cNvSpPr/>
          <p:nvPr/>
        </p:nvSpPr>
        <p:spPr>
          <a:xfrm>
            <a:off x="10236200" y="2528491"/>
            <a:ext cx="100330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B1A17"/>
                </a:solidFill>
                <a:latin typeface="Archivo Black" pitchFamily="34" charset="0"/>
                <a:ea typeface="Archivo Black" pitchFamily="34" charset="-122"/>
                <a:cs typeface="Archivo Black" pitchFamily="34" charset="-120"/>
              </a:rPr>
              <a:t>76,4</a:t>
            </a:r>
            <a:endParaRPr lang="en-US" sz="2200" dirty="0"/>
          </a:p>
        </p:txBody>
      </p:sp>
      <p:sp>
        <p:nvSpPr>
          <p:cNvPr id="22" name="Text 20"/>
          <p:cNvSpPr/>
          <p:nvPr/>
        </p:nvSpPr>
        <p:spPr>
          <a:xfrm>
            <a:off x="812800" y="3098800"/>
            <a:ext cx="19621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A17"/>
                </a:solidFill>
                <a:latin typeface="Archivo" pitchFamily="34" charset="0"/>
                <a:ea typeface="Archivo" pitchFamily="34" charset="-122"/>
                <a:cs typeface="Archivo" pitchFamily="34" charset="-120"/>
              </a:rPr>
              <a:t>Madrid</a:t>
            </a:r>
            <a:endParaRPr lang="en-US" sz="1600" dirty="0"/>
          </a:p>
        </p:txBody>
      </p:sp>
      <p:sp>
        <p:nvSpPr>
          <p:cNvPr id="23" name="Text 21"/>
          <p:cNvSpPr/>
          <p:nvPr/>
        </p:nvSpPr>
        <p:spPr>
          <a:xfrm>
            <a:off x="812800" y="335528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Nº 52 de 306</a:t>
            </a:r>
            <a:endParaRPr lang="en-US" sz="1200" dirty="0"/>
          </a:p>
        </p:txBody>
      </p:sp>
      <p:sp>
        <p:nvSpPr>
          <p:cNvPr id="24" name="Shape 22"/>
          <p:cNvSpPr/>
          <p:nvPr/>
        </p:nvSpPr>
        <p:spPr>
          <a:xfrm>
            <a:off x="2870200" y="3130451"/>
            <a:ext cx="7264400" cy="406400"/>
          </a:xfrm>
          <a:prstGeom prst="rect">
            <a:avLst/>
          </a:prstGeom>
          <a:solidFill>
            <a:srgbClr val="E6E1D4"/>
          </a:solidFill>
          <a:ln/>
        </p:spPr>
      </p:sp>
      <p:sp>
        <p:nvSpPr>
          <p:cNvPr id="25" name="Shape 23"/>
          <p:cNvSpPr/>
          <p:nvPr/>
        </p:nvSpPr>
        <p:spPr>
          <a:xfrm>
            <a:off x="2870200" y="3130451"/>
            <a:ext cx="2463800" cy="406400"/>
          </a:xfrm>
          <a:prstGeom prst="rect">
            <a:avLst/>
          </a:prstGeom>
          <a:solidFill>
            <a:srgbClr val="5E1A3C"/>
          </a:solidFill>
          <a:ln/>
        </p:spPr>
      </p:sp>
      <p:sp>
        <p:nvSpPr>
          <p:cNvPr id="26" name="Shape 24"/>
          <p:cNvSpPr/>
          <p:nvPr/>
        </p:nvSpPr>
        <p:spPr>
          <a:xfrm>
            <a:off x="5334000" y="3130451"/>
            <a:ext cx="1397000" cy="406400"/>
          </a:xfrm>
          <a:prstGeom prst="rect">
            <a:avLst/>
          </a:prstGeom>
          <a:solidFill>
            <a:srgbClr val="B26A8B"/>
          </a:solidFill>
          <a:ln/>
        </p:spPr>
      </p:sp>
      <p:sp>
        <p:nvSpPr>
          <p:cNvPr id="27" name="Shape 25"/>
          <p:cNvSpPr/>
          <p:nvPr/>
        </p:nvSpPr>
        <p:spPr>
          <a:xfrm>
            <a:off x="6731000" y="3130451"/>
            <a:ext cx="622300" cy="406400"/>
          </a:xfrm>
          <a:prstGeom prst="rect">
            <a:avLst/>
          </a:prstGeom>
          <a:solidFill>
            <a:srgbClr val="1F5C63"/>
          </a:solidFill>
          <a:ln/>
        </p:spPr>
      </p:sp>
      <p:sp>
        <p:nvSpPr>
          <p:cNvPr id="28" name="Shape 26"/>
          <p:cNvSpPr/>
          <p:nvPr/>
        </p:nvSpPr>
        <p:spPr>
          <a:xfrm>
            <a:off x="7353300" y="3130451"/>
            <a:ext cx="539750" cy="406400"/>
          </a:xfrm>
          <a:prstGeom prst="rect">
            <a:avLst/>
          </a:prstGeom>
          <a:solidFill>
            <a:srgbClr val="D9A441"/>
          </a:solidFill>
          <a:ln/>
        </p:spPr>
      </p:sp>
      <p:sp>
        <p:nvSpPr>
          <p:cNvPr id="29" name="Text 27"/>
          <p:cNvSpPr/>
          <p:nvPr/>
        </p:nvSpPr>
        <p:spPr>
          <a:xfrm>
            <a:off x="10236200" y="3138091"/>
            <a:ext cx="100330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B1A17"/>
                </a:solidFill>
                <a:latin typeface="Archivo Black" pitchFamily="34" charset="0"/>
                <a:ea typeface="Archivo Black" pitchFamily="34" charset="-122"/>
                <a:cs typeface="Archivo Black" pitchFamily="34" charset="-120"/>
              </a:rPr>
              <a:t>69,2</a:t>
            </a:r>
            <a:endParaRPr lang="en-US" sz="2200" dirty="0"/>
          </a:p>
        </p:txBody>
      </p:sp>
      <p:sp>
        <p:nvSpPr>
          <p:cNvPr id="30" name="Text 28"/>
          <p:cNvSpPr/>
          <p:nvPr/>
        </p:nvSpPr>
        <p:spPr>
          <a:xfrm>
            <a:off x="812800" y="3708400"/>
            <a:ext cx="196215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B1A17"/>
                </a:solidFill>
                <a:latin typeface="Archivo" pitchFamily="34" charset="0"/>
                <a:ea typeface="Archivo" pitchFamily="34" charset="-122"/>
                <a:cs typeface="Archivo" pitchFamily="34" charset="-120"/>
              </a:rPr>
              <a:t>Barcelona</a:t>
            </a:r>
            <a:endParaRPr lang="en-US" sz="1600" dirty="0"/>
          </a:p>
        </p:txBody>
      </p:sp>
      <p:sp>
        <p:nvSpPr>
          <p:cNvPr id="31" name="Text 29"/>
          <p:cNvSpPr/>
          <p:nvPr/>
        </p:nvSpPr>
        <p:spPr>
          <a:xfrm>
            <a:off x="812800" y="396488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Nº 110 de 306</a:t>
            </a:r>
            <a:endParaRPr lang="en-US" sz="1200" dirty="0"/>
          </a:p>
        </p:txBody>
      </p:sp>
      <p:sp>
        <p:nvSpPr>
          <p:cNvPr id="32" name="Shape 30"/>
          <p:cNvSpPr/>
          <p:nvPr/>
        </p:nvSpPr>
        <p:spPr>
          <a:xfrm>
            <a:off x="2870200" y="3740051"/>
            <a:ext cx="7264400" cy="406400"/>
          </a:xfrm>
          <a:prstGeom prst="rect">
            <a:avLst/>
          </a:prstGeom>
          <a:solidFill>
            <a:srgbClr val="E6E1D4"/>
          </a:solidFill>
          <a:ln/>
        </p:spPr>
      </p:sp>
      <p:sp>
        <p:nvSpPr>
          <p:cNvPr id="33" name="Shape 31"/>
          <p:cNvSpPr/>
          <p:nvPr/>
        </p:nvSpPr>
        <p:spPr>
          <a:xfrm>
            <a:off x="2870200" y="3740051"/>
            <a:ext cx="2501900" cy="406400"/>
          </a:xfrm>
          <a:prstGeom prst="rect">
            <a:avLst/>
          </a:prstGeom>
          <a:solidFill>
            <a:srgbClr val="5E1A3C"/>
          </a:solidFill>
          <a:ln/>
        </p:spPr>
      </p:sp>
      <p:sp>
        <p:nvSpPr>
          <p:cNvPr id="34" name="Shape 32"/>
          <p:cNvSpPr/>
          <p:nvPr/>
        </p:nvSpPr>
        <p:spPr>
          <a:xfrm>
            <a:off x="5372100" y="3740051"/>
            <a:ext cx="1479550" cy="406400"/>
          </a:xfrm>
          <a:prstGeom prst="rect">
            <a:avLst/>
          </a:prstGeom>
          <a:solidFill>
            <a:srgbClr val="B26A8B"/>
          </a:solidFill>
          <a:ln/>
        </p:spPr>
      </p:sp>
      <p:sp>
        <p:nvSpPr>
          <p:cNvPr id="35" name="Shape 33"/>
          <p:cNvSpPr/>
          <p:nvPr/>
        </p:nvSpPr>
        <p:spPr>
          <a:xfrm>
            <a:off x="6851650" y="3740051"/>
            <a:ext cx="107950" cy="406400"/>
          </a:xfrm>
          <a:prstGeom prst="rect">
            <a:avLst/>
          </a:prstGeom>
          <a:solidFill>
            <a:srgbClr val="1F5C63"/>
          </a:solidFill>
          <a:ln/>
        </p:spPr>
      </p:sp>
      <p:sp>
        <p:nvSpPr>
          <p:cNvPr id="36" name="Shape 34"/>
          <p:cNvSpPr/>
          <p:nvPr/>
        </p:nvSpPr>
        <p:spPr>
          <a:xfrm>
            <a:off x="6959600" y="3740051"/>
            <a:ext cx="69850" cy="406400"/>
          </a:xfrm>
          <a:prstGeom prst="rect">
            <a:avLst/>
          </a:prstGeom>
          <a:solidFill>
            <a:srgbClr val="D9A441"/>
          </a:solidFill>
          <a:ln/>
        </p:spPr>
      </p:sp>
      <p:sp>
        <p:nvSpPr>
          <p:cNvPr id="37" name="Text 35"/>
          <p:cNvSpPr/>
          <p:nvPr/>
        </p:nvSpPr>
        <p:spPr>
          <a:xfrm>
            <a:off x="10236200" y="3747691"/>
            <a:ext cx="1003300" cy="416520"/>
          </a:xfrm>
          <a:prstGeom prst="rect">
            <a:avLst/>
          </a:prstGeom>
          <a:noFill/>
          <a:ln/>
        </p:spPr>
        <p:txBody>
          <a:bodyPr wrap="square" lIns="0" tIns="0" rIns="0" bIns="0" rtlCol="0" anchor="t">
            <a:normAutofit/>
          </a:bodyPr>
          <a:lstStyle/>
          <a:p>
            <a:pPr algn="r" indent="0" marL="0">
              <a:lnSpc>
                <a:spcPts val="3080"/>
              </a:lnSpc>
              <a:buNone/>
            </a:pPr>
            <a:r>
              <a:rPr lang="en-US" sz="2200" dirty="0">
                <a:solidFill>
                  <a:srgbClr val="1B1A17"/>
                </a:solidFill>
                <a:latin typeface="Archivo Black" pitchFamily="34" charset="0"/>
                <a:ea typeface="Archivo Black" pitchFamily="34" charset="-122"/>
                <a:cs typeface="Archivo Black" pitchFamily="34" charset="-120"/>
              </a:rPr>
              <a:t>57,3</a:t>
            </a:r>
            <a:endParaRPr lang="en-US" sz="2200" dirty="0"/>
          </a:p>
        </p:txBody>
      </p:sp>
      <p:sp>
        <p:nvSpPr>
          <p:cNvPr id="38" name="Shape 36"/>
          <p:cNvSpPr/>
          <p:nvPr/>
        </p:nvSpPr>
        <p:spPr>
          <a:xfrm>
            <a:off x="812800" y="4399260"/>
            <a:ext cx="152400" cy="152400"/>
          </a:xfrm>
          <a:prstGeom prst="rect">
            <a:avLst/>
          </a:prstGeom>
          <a:solidFill>
            <a:srgbClr val="5E1A3C"/>
          </a:solidFill>
          <a:ln/>
        </p:spPr>
      </p:sp>
      <p:sp>
        <p:nvSpPr>
          <p:cNvPr id="39" name="Text 37"/>
          <p:cNvSpPr/>
          <p:nvPr/>
        </p:nvSpPr>
        <p:spPr>
          <a:xfrm>
            <a:off x="1041400" y="4368800"/>
            <a:ext cx="14405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Dificultad para pagar</a:t>
            </a:r>
            <a:endParaRPr lang="en-US" sz="1200" dirty="0"/>
          </a:p>
        </p:txBody>
      </p:sp>
      <p:sp>
        <p:nvSpPr>
          <p:cNvPr id="40" name="Shape 38"/>
          <p:cNvSpPr/>
          <p:nvPr/>
        </p:nvSpPr>
        <p:spPr>
          <a:xfrm>
            <a:off x="2685157" y="4399260"/>
            <a:ext cx="152400" cy="152400"/>
          </a:xfrm>
          <a:prstGeom prst="rect">
            <a:avLst/>
          </a:prstGeom>
          <a:solidFill>
            <a:srgbClr val="B26A8B"/>
          </a:solidFill>
          <a:ln/>
        </p:spPr>
      </p:sp>
      <p:sp>
        <p:nvSpPr>
          <p:cNvPr id="41" name="Text 39"/>
          <p:cNvSpPr/>
          <p:nvPr/>
        </p:nvSpPr>
        <p:spPr>
          <a:xfrm>
            <a:off x="2913757" y="4368800"/>
            <a:ext cx="1356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Viviendas turísticas</a:t>
            </a:r>
            <a:endParaRPr lang="en-US" sz="1200" dirty="0"/>
          </a:p>
        </p:txBody>
      </p:sp>
      <p:sp>
        <p:nvSpPr>
          <p:cNvPr id="42" name="Shape 40"/>
          <p:cNvSpPr/>
          <p:nvPr/>
        </p:nvSpPr>
        <p:spPr>
          <a:xfrm>
            <a:off x="4473079" y="4399260"/>
            <a:ext cx="152400" cy="152400"/>
          </a:xfrm>
          <a:prstGeom prst="rect">
            <a:avLst/>
          </a:prstGeom>
          <a:solidFill>
            <a:srgbClr val="1F5C63"/>
          </a:solidFill>
          <a:ln/>
        </p:spPr>
      </p:sp>
      <p:sp>
        <p:nvSpPr>
          <p:cNvPr id="43" name="Text 41"/>
          <p:cNvSpPr/>
          <p:nvPr/>
        </p:nvSpPr>
        <p:spPr>
          <a:xfrm>
            <a:off x="4701679" y="4368800"/>
            <a:ext cx="9694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Especulación</a:t>
            </a:r>
            <a:endParaRPr lang="en-US" sz="1200" dirty="0"/>
          </a:p>
        </p:txBody>
      </p:sp>
      <p:sp>
        <p:nvSpPr>
          <p:cNvPr id="44" name="Shape 42"/>
          <p:cNvSpPr/>
          <p:nvPr/>
        </p:nvSpPr>
        <p:spPr>
          <a:xfrm>
            <a:off x="5874345" y="4399260"/>
            <a:ext cx="152400" cy="152400"/>
          </a:xfrm>
          <a:prstGeom prst="rect">
            <a:avLst/>
          </a:prstGeom>
          <a:solidFill>
            <a:srgbClr val="D9A441"/>
          </a:solidFill>
          <a:ln/>
        </p:spPr>
      </p:sp>
      <p:sp>
        <p:nvSpPr>
          <p:cNvPr id="45" name="Text 43"/>
          <p:cNvSpPr/>
          <p:nvPr/>
        </p:nvSpPr>
        <p:spPr>
          <a:xfrm>
            <a:off x="6102945" y="4368800"/>
            <a:ext cx="16579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Desplazamiento vecinal</a:t>
            </a:r>
            <a:endParaRPr lang="en-US" sz="1200" dirty="0"/>
          </a:p>
        </p:txBody>
      </p:sp>
      <p:sp>
        <p:nvSpPr>
          <p:cNvPr id="46" name="Text 44"/>
          <p:cNvSpPr/>
          <p:nvPr/>
        </p:nvSpPr>
        <p:spPr>
          <a:xfrm>
            <a:off x="812800" y="4800600"/>
            <a:ext cx="10883392"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B1A17"/>
                </a:solidFill>
                <a:latin typeface="Archivo" pitchFamily="34" charset="0"/>
                <a:ea typeface="Archivo" pitchFamily="34" charset="-122"/>
                <a:cs typeface="Archivo" pitchFamily="34" charset="-120"/>
              </a:rPr>
              <a:t>Mismo número, problemas distintos: en Barcelona pesa </a:t>
            </a:r>
            <a:r>
              <a:rPr lang="en-US" sz="1600" b="1" dirty="0">
                <a:solidFill>
                  <a:srgbClr val="1B1A17"/>
                </a:solidFill>
                <a:latin typeface="Archivo" pitchFamily="34" charset="0"/>
                <a:ea typeface="Archivo" pitchFamily="34" charset="-122"/>
                <a:cs typeface="Archivo" pitchFamily="34" charset="-120"/>
              </a:rPr>
              <a:t>pagar la vivienda</a:t>
            </a:r>
            <a:r>
              <a:rPr lang="en-US" sz="1600" dirty="0">
                <a:solidFill>
                  <a:srgbClr val="1B1A17"/>
                </a:solidFill>
                <a:latin typeface="Archivo" pitchFamily="34" charset="0"/>
                <a:ea typeface="Archivo" pitchFamily="34" charset="-122"/>
                <a:cs typeface="Archivo" pitchFamily="34" charset="-120"/>
              </a:rPr>
              <a:t>; en Valencia, </a:t>
            </a:r>
            <a:r>
              <a:rPr lang="en-US" sz="1600" b="1" dirty="0">
                <a:solidFill>
                  <a:srgbClr val="1B1A17"/>
                </a:solidFill>
                <a:latin typeface="Archivo" pitchFamily="34" charset="0"/>
                <a:ea typeface="Archivo" pitchFamily="34" charset="-122"/>
                <a:cs typeface="Archivo" pitchFamily="34" charset="-120"/>
              </a:rPr>
              <a:t>un mercado que se acelera</a:t>
            </a:r>
            <a:r>
              <a:rPr lang="en-US" sz="1600" dirty="0">
                <a:solidFill>
                  <a:srgbClr val="1B1A17"/>
                </a:solidFill>
                <a:latin typeface="Archivo" pitchFamily="34" charset="0"/>
                <a:ea typeface="Archivo" pitchFamily="34" charset="-122"/>
                <a:cs typeface="Archivo" pitchFamily="34" charset="-120"/>
              </a:rPr>
              <a:t>.</a:t>
            </a:r>
            <a:endParaRPr lang="en-US" sz="1600" dirty="0"/>
          </a:p>
        </p:txBody>
      </p:sp>
      <p:sp>
        <p:nvSpPr>
          <p:cNvPr id="47" name="Text 4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Puntos que aporta cada capa · la barra completa equivale a 100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07 · EL CONJUNTO</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07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La presión dibuja un arco litoral</a:t>
            </a:r>
            <a:endParaRPr lang="en-US" sz="3600" dirty="0"/>
          </a:p>
        </p:txBody>
      </p:sp>
      <p:pic>
        <p:nvPicPr>
          <p:cNvPr id="6" name="Image 0" descr="Recuadro de Canarias">    </p:cNvPr>
          <p:cNvPicPr>
            <a:picLocks noChangeAspect="1"/>
          </p:cNvPicPr>
          <p:nvPr/>
        </p:nvPicPr>
        <p:blipFill>
          <a:blip r:embed="rId1"/>
          <a:srcRect l="0" r="0" t="0" b="0"/>
          <a:stretch/>
        </p:blipFill>
        <p:spPr>
          <a:xfrm>
            <a:off x="812800" y="1879600"/>
            <a:ext cx="4165600" cy="3949700"/>
          </a:xfrm>
          <a:prstGeom prst="rect">
            <a:avLst/>
          </a:prstGeom>
        </p:spPr>
      </p:pic>
      <p:pic>
        <p:nvPicPr>
          <p:cNvPr id="7" name="Image 1" descr="Municipios de presión muy baja">    </p:cNvPr>
          <p:cNvPicPr>
            <a:picLocks noChangeAspect="1"/>
          </p:cNvPicPr>
          <p:nvPr/>
        </p:nvPicPr>
        <p:blipFill>
          <a:blip r:embed="rId2"/>
          <a:srcRect l="0" r="0" t="0" b="0"/>
          <a:stretch/>
        </p:blipFill>
        <p:spPr>
          <a:xfrm>
            <a:off x="812800" y="1879600"/>
            <a:ext cx="4165600" cy="3949700"/>
          </a:xfrm>
          <a:prstGeom prst="rect">
            <a:avLst/>
          </a:prstGeom>
        </p:spPr>
      </p:pic>
      <p:pic>
        <p:nvPicPr>
          <p:cNvPr id="8" name="Image 2" descr="Municipios de presión baja">    </p:cNvPr>
          <p:cNvPicPr>
            <a:picLocks noChangeAspect="1"/>
          </p:cNvPicPr>
          <p:nvPr/>
        </p:nvPicPr>
        <p:blipFill>
          <a:blip r:embed="rId3"/>
          <a:srcRect l="0" r="0" t="0" b="0"/>
          <a:stretch/>
        </p:blipFill>
        <p:spPr>
          <a:xfrm>
            <a:off x="812800" y="1879600"/>
            <a:ext cx="4165600" cy="3949700"/>
          </a:xfrm>
          <a:prstGeom prst="rect">
            <a:avLst/>
          </a:prstGeom>
        </p:spPr>
      </p:pic>
      <p:pic>
        <p:nvPicPr>
          <p:cNvPr id="9" name="Image 3" descr="Municipios de presión media">    </p:cNvPr>
          <p:cNvPicPr>
            <a:picLocks noChangeAspect="1"/>
          </p:cNvPicPr>
          <p:nvPr/>
        </p:nvPicPr>
        <p:blipFill>
          <a:blip r:embed="rId4"/>
          <a:srcRect l="0" r="0" t="0" b="0"/>
          <a:stretch/>
        </p:blipFill>
        <p:spPr>
          <a:xfrm>
            <a:off x="812800" y="1879600"/>
            <a:ext cx="4165600" cy="3949700"/>
          </a:xfrm>
          <a:prstGeom prst="rect">
            <a:avLst/>
          </a:prstGeom>
        </p:spPr>
      </p:pic>
      <p:pic>
        <p:nvPicPr>
          <p:cNvPr id="10" name="Image 4" descr="Municipios de presión alta">    </p:cNvPr>
          <p:cNvPicPr>
            <a:picLocks noChangeAspect="1"/>
          </p:cNvPicPr>
          <p:nvPr/>
        </p:nvPicPr>
        <p:blipFill>
          <a:blip r:embed="rId5"/>
          <a:srcRect l="0" r="0" t="0" b="0"/>
          <a:stretch/>
        </p:blipFill>
        <p:spPr>
          <a:xfrm>
            <a:off x="812800" y="1879600"/>
            <a:ext cx="4165600" cy="3949700"/>
          </a:xfrm>
          <a:prstGeom prst="rect">
            <a:avLst/>
          </a:prstGeom>
        </p:spPr>
      </p:pic>
      <p:pic>
        <p:nvPicPr>
          <p:cNvPr id="11" name="Image 5" descr="Municipios de presión muy alta">    </p:cNvPr>
          <p:cNvPicPr>
            <a:picLocks noChangeAspect="1"/>
          </p:cNvPicPr>
          <p:nvPr/>
        </p:nvPicPr>
        <p:blipFill>
          <a:blip r:embed="rId6"/>
          <a:srcRect l="0" r="0" t="0" b="0"/>
          <a:stretch/>
        </p:blipFill>
        <p:spPr>
          <a:xfrm>
            <a:off x="812800" y="1879600"/>
            <a:ext cx="4165600" cy="3949700"/>
          </a:xfrm>
          <a:prstGeom prst="rect">
            <a:avLst/>
          </a:prstGeom>
        </p:spPr>
      </p:pic>
      <p:sp>
        <p:nvSpPr>
          <p:cNvPr id="12" name="Text 4"/>
          <p:cNvSpPr/>
          <p:nvPr/>
        </p:nvSpPr>
        <p:spPr>
          <a:xfrm>
            <a:off x="5486400" y="1879600"/>
            <a:ext cx="606958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LOS TRES CON MÁS PRESIÓN</a:t>
            </a:r>
            <a:endParaRPr lang="en-US" sz="1200" dirty="0"/>
          </a:p>
        </p:txBody>
      </p:sp>
      <p:sp>
        <p:nvSpPr>
          <p:cNvPr id="13" name="Shape 5"/>
          <p:cNvSpPr/>
          <p:nvPr/>
        </p:nvSpPr>
        <p:spPr>
          <a:xfrm>
            <a:off x="5486400" y="2277070"/>
            <a:ext cx="5892800" cy="0"/>
          </a:xfrm>
          <a:prstGeom prst="line">
            <a:avLst/>
          </a:prstGeom>
          <a:noFill/>
          <a:ln w="12700">
            <a:solidFill>
              <a:srgbClr val="1B1A17"/>
            </a:solidFill>
            <a:prstDash val="solid"/>
          </a:ln>
        </p:spPr>
      </p:sp>
      <p:sp>
        <p:nvSpPr>
          <p:cNvPr id="14" name="Text 6"/>
          <p:cNvSpPr/>
          <p:nvPr/>
        </p:nvSpPr>
        <p:spPr>
          <a:xfrm>
            <a:off x="5486400" y="2346920"/>
            <a:ext cx="4064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7A2350"/>
                </a:solidFill>
                <a:latin typeface="Archivo Black" pitchFamily="34" charset="0"/>
                <a:ea typeface="Archivo Black" pitchFamily="34" charset="-122"/>
                <a:cs typeface="Archivo Black" pitchFamily="34" charset="-120"/>
              </a:rPr>
              <a:t>1</a:t>
            </a:r>
            <a:endParaRPr lang="en-US" sz="2200" dirty="0"/>
          </a:p>
        </p:txBody>
      </p:sp>
      <p:sp>
        <p:nvSpPr>
          <p:cNvPr id="15" name="Text 7"/>
          <p:cNvSpPr/>
          <p:nvPr/>
        </p:nvSpPr>
        <p:spPr>
          <a:xfrm>
            <a:off x="5994400" y="2429470"/>
            <a:ext cx="47614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A17"/>
                </a:solidFill>
                <a:latin typeface="Archivo" pitchFamily="34" charset="0"/>
                <a:ea typeface="Archivo" pitchFamily="34" charset="-122"/>
                <a:cs typeface="Archivo" pitchFamily="34" charset="-120"/>
              </a:rPr>
              <a:t>Puerto de la Cruz</a:t>
            </a:r>
            <a:endParaRPr lang="en-US" sz="1600" dirty="0"/>
          </a:p>
        </p:txBody>
      </p:sp>
      <p:sp>
        <p:nvSpPr>
          <p:cNvPr id="16" name="Text 8"/>
          <p:cNvSpPr/>
          <p:nvPr/>
        </p:nvSpPr>
        <p:spPr>
          <a:xfrm>
            <a:off x="10769600" y="2416770"/>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A17"/>
                </a:solidFill>
                <a:latin typeface="IBM Plex Mono" pitchFamily="34" charset="0"/>
                <a:ea typeface="IBM Plex Mono" pitchFamily="34" charset="-122"/>
                <a:cs typeface="IBM Plex Mono" pitchFamily="34" charset="-120"/>
              </a:rPr>
              <a:t>93,98</a:t>
            </a:r>
            <a:endParaRPr lang="en-US" sz="1600" dirty="0"/>
          </a:p>
        </p:txBody>
      </p:sp>
      <p:sp>
        <p:nvSpPr>
          <p:cNvPr id="17" name="Shape 9"/>
          <p:cNvSpPr/>
          <p:nvPr/>
        </p:nvSpPr>
        <p:spPr>
          <a:xfrm>
            <a:off x="5486400" y="2807891"/>
            <a:ext cx="5892800" cy="0"/>
          </a:xfrm>
          <a:prstGeom prst="line">
            <a:avLst/>
          </a:prstGeom>
          <a:noFill/>
          <a:ln w="12700">
            <a:solidFill>
              <a:srgbClr val="1B1A17"/>
            </a:solidFill>
            <a:prstDash val="solid"/>
          </a:ln>
        </p:spPr>
      </p:sp>
      <p:sp>
        <p:nvSpPr>
          <p:cNvPr id="18" name="Text 10"/>
          <p:cNvSpPr/>
          <p:nvPr/>
        </p:nvSpPr>
        <p:spPr>
          <a:xfrm>
            <a:off x="5486400" y="2877741"/>
            <a:ext cx="4064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7A2350"/>
                </a:solidFill>
                <a:latin typeface="Archivo Black" pitchFamily="34" charset="0"/>
                <a:ea typeface="Archivo Black" pitchFamily="34" charset="-122"/>
                <a:cs typeface="Archivo Black" pitchFamily="34" charset="-120"/>
              </a:rPr>
              <a:t>2</a:t>
            </a:r>
            <a:endParaRPr lang="en-US" sz="2200" dirty="0"/>
          </a:p>
        </p:txBody>
      </p:sp>
      <p:sp>
        <p:nvSpPr>
          <p:cNvPr id="19" name="Text 11"/>
          <p:cNvSpPr/>
          <p:nvPr/>
        </p:nvSpPr>
        <p:spPr>
          <a:xfrm>
            <a:off x="5994400" y="2960291"/>
            <a:ext cx="47614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A17"/>
                </a:solidFill>
                <a:latin typeface="Archivo" pitchFamily="34" charset="0"/>
                <a:ea typeface="Archivo" pitchFamily="34" charset="-122"/>
                <a:cs typeface="Archivo" pitchFamily="34" charset="-120"/>
              </a:rPr>
              <a:t>Málaga</a:t>
            </a:r>
            <a:endParaRPr lang="en-US" sz="1600" dirty="0"/>
          </a:p>
        </p:txBody>
      </p:sp>
      <p:sp>
        <p:nvSpPr>
          <p:cNvPr id="20" name="Text 12"/>
          <p:cNvSpPr/>
          <p:nvPr/>
        </p:nvSpPr>
        <p:spPr>
          <a:xfrm>
            <a:off x="10769600" y="2947591"/>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A17"/>
                </a:solidFill>
                <a:latin typeface="IBM Plex Mono" pitchFamily="34" charset="0"/>
                <a:ea typeface="IBM Plex Mono" pitchFamily="34" charset="-122"/>
                <a:cs typeface="IBM Plex Mono" pitchFamily="34" charset="-120"/>
              </a:rPr>
              <a:t>90,36</a:t>
            </a:r>
            <a:endParaRPr lang="en-US" sz="1600" dirty="0"/>
          </a:p>
        </p:txBody>
      </p:sp>
      <p:sp>
        <p:nvSpPr>
          <p:cNvPr id="21" name="Shape 13"/>
          <p:cNvSpPr/>
          <p:nvPr/>
        </p:nvSpPr>
        <p:spPr>
          <a:xfrm>
            <a:off x="5486400" y="3338711"/>
            <a:ext cx="5892800" cy="0"/>
          </a:xfrm>
          <a:prstGeom prst="line">
            <a:avLst/>
          </a:prstGeom>
          <a:noFill/>
          <a:ln w="12700">
            <a:solidFill>
              <a:srgbClr val="1B1A17"/>
            </a:solidFill>
            <a:prstDash val="solid"/>
          </a:ln>
        </p:spPr>
      </p:sp>
      <p:sp>
        <p:nvSpPr>
          <p:cNvPr id="22" name="Shape 14"/>
          <p:cNvSpPr/>
          <p:nvPr/>
        </p:nvSpPr>
        <p:spPr>
          <a:xfrm>
            <a:off x="5486400" y="3869531"/>
            <a:ext cx="5892800" cy="0"/>
          </a:xfrm>
          <a:prstGeom prst="line">
            <a:avLst/>
          </a:prstGeom>
          <a:noFill/>
          <a:ln w="12700">
            <a:solidFill>
              <a:srgbClr val="1B1A17"/>
            </a:solidFill>
            <a:prstDash val="solid"/>
          </a:ln>
        </p:spPr>
      </p:sp>
      <p:sp>
        <p:nvSpPr>
          <p:cNvPr id="23" name="Text 15"/>
          <p:cNvSpPr/>
          <p:nvPr/>
        </p:nvSpPr>
        <p:spPr>
          <a:xfrm>
            <a:off x="5486400" y="3408561"/>
            <a:ext cx="406400" cy="416520"/>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7A2350"/>
                </a:solidFill>
                <a:latin typeface="Archivo Black" pitchFamily="34" charset="0"/>
                <a:ea typeface="Archivo Black" pitchFamily="34" charset="-122"/>
                <a:cs typeface="Archivo Black" pitchFamily="34" charset="-120"/>
              </a:rPr>
              <a:t>3</a:t>
            </a:r>
            <a:endParaRPr lang="en-US" sz="2200" dirty="0"/>
          </a:p>
        </p:txBody>
      </p:sp>
      <p:sp>
        <p:nvSpPr>
          <p:cNvPr id="24" name="Text 16"/>
          <p:cNvSpPr/>
          <p:nvPr/>
        </p:nvSpPr>
        <p:spPr>
          <a:xfrm>
            <a:off x="5994400" y="3491111"/>
            <a:ext cx="4761484"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B1A17"/>
                </a:solidFill>
                <a:latin typeface="Archivo" pitchFamily="34" charset="0"/>
                <a:ea typeface="Archivo" pitchFamily="34" charset="-122"/>
                <a:cs typeface="Archivo" pitchFamily="34" charset="-120"/>
              </a:rPr>
              <a:t>Torremolinos</a:t>
            </a:r>
            <a:endParaRPr lang="en-US" sz="1600" dirty="0"/>
          </a:p>
        </p:txBody>
      </p:sp>
      <p:sp>
        <p:nvSpPr>
          <p:cNvPr id="25" name="Text 17"/>
          <p:cNvSpPr/>
          <p:nvPr/>
        </p:nvSpPr>
        <p:spPr>
          <a:xfrm>
            <a:off x="10769600" y="3478411"/>
            <a:ext cx="660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B1A17"/>
                </a:solidFill>
                <a:latin typeface="IBM Plex Mono" pitchFamily="34" charset="0"/>
                <a:ea typeface="IBM Plex Mono" pitchFamily="34" charset="-122"/>
                <a:cs typeface="IBM Plex Mono" pitchFamily="34" charset="-120"/>
              </a:rPr>
              <a:t>90,01</a:t>
            </a:r>
            <a:endParaRPr lang="en-US" sz="1600" dirty="0"/>
          </a:p>
        </p:txBody>
      </p:sp>
      <p:sp>
        <p:nvSpPr>
          <p:cNvPr id="26" name="Text 18"/>
          <p:cNvSpPr/>
          <p:nvPr/>
        </p:nvSpPr>
        <p:spPr>
          <a:xfrm>
            <a:off x="5486400" y="4053681"/>
            <a:ext cx="6069584" cy="573881"/>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1B1A17"/>
                </a:solidFill>
                <a:latin typeface="Archivo" pitchFamily="34" charset="0"/>
                <a:ea typeface="Archivo" pitchFamily="34" charset="-122"/>
                <a:cs typeface="Archivo" pitchFamily="34" charset="-120"/>
              </a:rPr>
              <a:t>46 de los 61</a:t>
            </a:r>
            <a:r>
              <a:rPr lang="en-US" sz="1600" dirty="0">
                <a:solidFill>
                  <a:srgbClr val="1B1A17"/>
                </a:solidFill>
                <a:latin typeface="Archivo" pitchFamily="34" charset="0"/>
                <a:ea typeface="Archivo" pitchFamily="34" charset="-122"/>
                <a:cs typeface="Archivo" pitchFamily="34" charset="-120"/>
              </a:rPr>
              <a:t> municipios de presión muy alta están en solo seis provincias.</a:t>
            </a:r>
            <a:endParaRPr lang="en-US" sz="1600" dirty="0"/>
          </a:p>
        </p:txBody>
      </p:sp>
      <p:sp>
        <p:nvSpPr>
          <p:cNvPr id="27" name="Text 19"/>
          <p:cNvSpPr/>
          <p:nvPr/>
        </p:nvSpPr>
        <p:spPr>
          <a:xfrm>
            <a:off x="5486400" y="4779963"/>
            <a:ext cx="6069584"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Los cinco valores más bajos, en el interior de Castilla-La Mancha: Tomelloso cierra el ranking.</a:t>
            </a:r>
            <a:endParaRPr lang="en-US" sz="1200" dirty="0"/>
          </a:p>
        </p:txBody>
      </p:sp>
      <p:sp>
        <p:nvSpPr>
          <p:cNvPr id="28" name="Shape 20"/>
          <p:cNvSpPr/>
          <p:nvPr/>
        </p:nvSpPr>
        <p:spPr>
          <a:xfrm>
            <a:off x="5486400" y="5504160"/>
            <a:ext cx="152400" cy="152400"/>
          </a:xfrm>
          <a:prstGeom prst="roundRect">
            <a:avLst>
              <a:gd name="adj" fmla="val 50000"/>
            </a:avLst>
          </a:prstGeom>
          <a:solidFill>
            <a:srgbClr val="E9D6DD"/>
          </a:solidFill>
          <a:ln/>
        </p:spPr>
      </p:sp>
      <p:sp>
        <p:nvSpPr>
          <p:cNvPr id="29" name="Text 21"/>
          <p:cNvSpPr/>
          <p:nvPr/>
        </p:nvSpPr>
        <p:spPr>
          <a:xfrm>
            <a:off x="5689600" y="5473700"/>
            <a:ext cx="66069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Muy baja</a:t>
            </a:r>
            <a:endParaRPr lang="en-US" sz="1200" dirty="0"/>
          </a:p>
        </p:txBody>
      </p:sp>
      <p:sp>
        <p:nvSpPr>
          <p:cNvPr id="30" name="Shape 22"/>
          <p:cNvSpPr/>
          <p:nvPr/>
        </p:nvSpPr>
        <p:spPr>
          <a:xfrm>
            <a:off x="6477298" y="5504160"/>
            <a:ext cx="152400" cy="152400"/>
          </a:xfrm>
          <a:prstGeom prst="roundRect">
            <a:avLst>
              <a:gd name="adj" fmla="val 50000"/>
            </a:avLst>
          </a:prstGeom>
          <a:solidFill>
            <a:srgbClr val="D3A3B7"/>
          </a:solidFill>
          <a:ln/>
        </p:spPr>
      </p:sp>
      <p:sp>
        <p:nvSpPr>
          <p:cNvPr id="31" name="Text 23"/>
          <p:cNvSpPr/>
          <p:nvPr/>
        </p:nvSpPr>
        <p:spPr>
          <a:xfrm>
            <a:off x="6680498" y="5473700"/>
            <a:ext cx="35718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Baja</a:t>
            </a:r>
            <a:endParaRPr lang="en-US" sz="1200" dirty="0"/>
          </a:p>
        </p:txBody>
      </p:sp>
      <p:sp>
        <p:nvSpPr>
          <p:cNvPr id="32" name="Shape 24"/>
          <p:cNvSpPr/>
          <p:nvPr/>
        </p:nvSpPr>
        <p:spPr>
          <a:xfrm>
            <a:off x="7164685" y="5504160"/>
            <a:ext cx="152400" cy="152400"/>
          </a:xfrm>
          <a:prstGeom prst="roundRect">
            <a:avLst>
              <a:gd name="adj" fmla="val 50000"/>
            </a:avLst>
          </a:prstGeom>
          <a:solidFill>
            <a:srgbClr val="B26A8B"/>
          </a:solidFill>
          <a:ln/>
        </p:spPr>
      </p:sp>
      <p:sp>
        <p:nvSpPr>
          <p:cNvPr id="33" name="Text 25"/>
          <p:cNvSpPr/>
          <p:nvPr/>
        </p:nvSpPr>
        <p:spPr>
          <a:xfrm>
            <a:off x="7367885" y="5473700"/>
            <a:ext cx="4671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Media</a:t>
            </a:r>
            <a:endParaRPr lang="en-US" sz="1200" dirty="0"/>
          </a:p>
        </p:txBody>
      </p:sp>
      <p:sp>
        <p:nvSpPr>
          <p:cNvPr id="34" name="Shape 26"/>
          <p:cNvSpPr/>
          <p:nvPr/>
        </p:nvSpPr>
        <p:spPr>
          <a:xfrm>
            <a:off x="7962007" y="5504160"/>
            <a:ext cx="152400" cy="152400"/>
          </a:xfrm>
          <a:prstGeom prst="roundRect">
            <a:avLst>
              <a:gd name="adj" fmla="val 50000"/>
            </a:avLst>
          </a:prstGeom>
          <a:solidFill>
            <a:srgbClr val="8C3A63"/>
          </a:solidFill>
          <a:ln/>
        </p:spPr>
      </p:sp>
      <p:sp>
        <p:nvSpPr>
          <p:cNvPr id="35" name="Text 27"/>
          <p:cNvSpPr/>
          <p:nvPr/>
        </p:nvSpPr>
        <p:spPr>
          <a:xfrm>
            <a:off x="8165207" y="5473700"/>
            <a:ext cx="3174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Alta</a:t>
            </a:r>
            <a:endParaRPr lang="en-US" sz="1200" dirty="0"/>
          </a:p>
        </p:txBody>
      </p:sp>
      <p:sp>
        <p:nvSpPr>
          <p:cNvPr id="36" name="Shape 28"/>
          <p:cNvSpPr/>
          <p:nvPr/>
        </p:nvSpPr>
        <p:spPr>
          <a:xfrm>
            <a:off x="8609608" y="5504160"/>
            <a:ext cx="152400" cy="152400"/>
          </a:xfrm>
          <a:prstGeom prst="roundRect">
            <a:avLst>
              <a:gd name="adj" fmla="val 50000"/>
            </a:avLst>
          </a:prstGeom>
          <a:solidFill>
            <a:srgbClr val="5E1A3C"/>
          </a:solidFill>
          <a:ln/>
        </p:spPr>
      </p:sp>
      <p:sp>
        <p:nvSpPr>
          <p:cNvPr id="37" name="Text 29"/>
          <p:cNvSpPr/>
          <p:nvPr/>
        </p:nvSpPr>
        <p:spPr>
          <a:xfrm>
            <a:off x="8812808" y="5473700"/>
            <a:ext cx="61991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B1A17"/>
                </a:solidFill>
                <a:latin typeface="Archivo" pitchFamily="34" charset="0"/>
                <a:ea typeface="Archivo" pitchFamily="34" charset="-122"/>
                <a:cs typeface="Archivo" pitchFamily="34" charset="-120"/>
              </a:rPr>
              <a:t>Muy alta</a:t>
            </a:r>
            <a:endParaRPr lang="en-US" sz="1200" dirty="0"/>
          </a:p>
        </p:txBody>
      </p:sp>
      <p:sp>
        <p:nvSpPr>
          <p:cNvPr id="38" name="Text 3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IPR-4 observado, 2023 · un punto por municipio, más grande cuanta más presión · recuadro: Canarias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08 · QUÉ HAY DETRÁS</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08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Qué hay detrás de cada puntuación</a:t>
            </a:r>
            <a:endParaRPr lang="en-US" sz="3600" dirty="0"/>
          </a:p>
        </p:txBody>
      </p:sp>
      <p:sp>
        <p:nvSpPr>
          <p:cNvPr id="6" name="Shape 4"/>
          <p:cNvSpPr/>
          <p:nvPr/>
        </p:nvSpPr>
        <p:spPr>
          <a:xfrm>
            <a:off x="812800" y="1879600"/>
            <a:ext cx="3079750" cy="510480"/>
          </a:xfrm>
          <a:prstGeom prst="roundRect">
            <a:avLst>
              <a:gd name="adj" fmla="val 7464"/>
            </a:avLst>
          </a:prstGeom>
          <a:solidFill>
            <a:srgbClr val="5E1A3C"/>
          </a:solidFill>
          <a:ln/>
        </p:spPr>
      </p:sp>
      <p:sp>
        <p:nvSpPr>
          <p:cNvPr id="7" name="Text 5"/>
          <p:cNvSpPr/>
          <p:nvPr/>
        </p:nvSpPr>
        <p:spPr>
          <a:xfrm>
            <a:off x="939800" y="1981200"/>
            <a:ext cx="2910523"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F2F0E9"/>
                </a:solidFill>
                <a:latin typeface="Archivo Black" pitchFamily="34" charset="0"/>
                <a:ea typeface="Archivo Black" pitchFamily="34" charset="-122"/>
                <a:cs typeface="Archivo Black" pitchFamily="34" charset="-120"/>
              </a:rPr>
              <a:t>30 %</a:t>
            </a:r>
            <a:endParaRPr lang="en-US" sz="2200" dirty="0"/>
          </a:p>
        </p:txBody>
      </p:sp>
      <p:sp>
        <p:nvSpPr>
          <p:cNvPr id="8" name="Text 6"/>
          <p:cNvSpPr/>
          <p:nvPr/>
        </p:nvSpPr>
        <p:spPr>
          <a:xfrm>
            <a:off x="812800" y="2466280"/>
            <a:ext cx="317214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A17"/>
                </a:solidFill>
                <a:latin typeface="Archivo" pitchFamily="34" charset="0"/>
                <a:ea typeface="Archivo" pitchFamily="34" charset="-122"/>
                <a:cs typeface="Archivo" pitchFamily="34" charset="-120"/>
              </a:rPr>
              <a:t>Dificultad para pagar</a:t>
            </a:r>
            <a:endParaRPr lang="en-US" sz="1400" dirty="0"/>
          </a:p>
        </p:txBody>
      </p:sp>
      <p:sp>
        <p:nvSpPr>
          <p:cNvPr id="9" name="Text 7"/>
          <p:cNvSpPr/>
          <p:nvPr/>
        </p:nvSpPr>
        <p:spPr>
          <a:xfrm>
            <a:off x="812800" y="2755801"/>
            <a:ext cx="3172143"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¿Cuántos años de renta cuesta una vivienda de 90 m²?</a:t>
            </a:r>
            <a:endParaRPr lang="en-US" sz="1200" dirty="0"/>
          </a:p>
        </p:txBody>
      </p:sp>
      <p:sp>
        <p:nvSpPr>
          <p:cNvPr id="10" name="Shape 8"/>
          <p:cNvSpPr/>
          <p:nvPr/>
        </p:nvSpPr>
        <p:spPr>
          <a:xfrm>
            <a:off x="3968750" y="1879600"/>
            <a:ext cx="2051050" cy="510480"/>
          </a:xfrm>
          <a:prstGeom prst="roundRect">
            <a:avLst>
              <a:gd name="adj" fmla="val 7464"/>
            </a:avLst>
          </a:prstGeom>
          <a:solidFill>
            <a:srgbClr val="B26A8B"/>
          </a:solidFill>
          <a:ln/>
        </p:spPr>
      </p:sp>
      <p:sp>
        <p:nvSpPr>
          <p:cNvPr id="11" name="Text 9"/>
          <p:cNvSpPr/>
          <p:nvPr/>
        </p:nvSpPr>
        <p:spPr>
          <a:xfrm>
            <a:off x="4095750" y="1981200"/>
            <a:ext cx="1850962"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1B1A17"/>
                </a:solidFill>
                <a:latin typeface="Archivo Black" pitchFamily="34" charset="0"/>
                <a:ea typeface="Archivo Black" pitchFamily="34" charset="-122"/>
                <a:cs typeface="Archivo Black" pitchFamily="34" charset="-120"/>
              </a:rPr>
              <a:t>20 %</a:t>
            </a:r>
            <a:endParaRPr lang="en-US" sz="2200" dirty="0"/>
          </a:p>
        </p:txBody>
      </p:sp>
      <p:sp>
        <p:nvSpPr>
          <p:cNvPr id="12" name="Text 10"/>
          <p:cNvSpPr/>
          <p:nvPr/>
        </p:nvSpPr>
        <p:spPr>
          <a:xfrm>
            <a:off x="3968750" y="2466280"/>
            <a:ext cx="211258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A17"/>
                </a:solidFill>
                <a:latin typeface="Archivo" pitchFamily="34" charset="0"/>
                <a:ea typeface="Archivo" pitchFamily="34" charset="-122"/>
                <a:cs typeface="Archivo" pitchFamily="34" charset="-120"/>
              </a:rPr>
              <a:t>Viviendas turísticas</a:t>
            </a:r>
            <a:endParaRPr lang="en-US" sz="1400" dirty="0"/>
          </a:p>
        </p:txBody>
      </p:sp>
      <p:sp>
        <p:nvSpPr>
          <p:cNvPr id="13" name="Text 11"/>
          <p:cNvSpPr/>
          <p:nvPr/>
        </p:nvSpPr>
        <p:spPr>
          <a:xfrm>
            <a:off x="3968750" y="2755801"/>
            <a:ext cx="211258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¿Cuántos pisos turísticos hay por vecino y por km²?</a:t>
            </a:r>
            <a:endParaRPr lang="en-US" sz="1200" dirty="0"/>
          </a:p>
        </p:txBody>
      </p:sp>
      <p:sp>
        <p:nvSpPr>
          <p:cNvPr id="14" name="Shape 12"/>
          <p:cNvSpPr/>
          <p:nvPr/>
        </p:nvSpPr>
        <p:spPr>
          <a:xfrm>
            <a:off x="6096000" y="1879600"/>
            <a:ext cx="2057400" cy="510480"/>
          </a:xfrm>
          <a:prstGeom prst="roundRect">
            <a:avLst>
              <a:gd name="adj" fmla="val 7464"/>
            </a:avLst>
          </a:prstGeom>
          <a:solidFill>
            <a:srgbClr val="1F5C63"/>
          </a:solidFill>
          <a:ln/>
        </p:spPr>
      </p:sp>
      <p:sp>
        <p:nvSpPr>
          <p:cNvPr id="15" name="Text 13"/>
          <p:cNvSpPr/>
          <p:nvPr/>
        </p:nvSpPr>
        <p:spPr>
          <a:xfrm>
            <a:off x="6223000" y="1981200"/>
            <a:ext cx="1857502"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F2F0E9"/>
                </a:solidFill>
                <a:latin typeface="Archivo Black" pitchFamily="34" charset="0"/>
                <a:ea typeface="Archivo Black" pitchFamily="34" charset="-122"/>
                <a:cs typeface="Archivo Black" pitchFamily="34" charset="-120"/>
              </a:rPr>
              <a:t>20 %</a:t>
            </a:r>
            <a:endParaRPr lang="en-US" sz="2200" dirty="0"/>
          </a:p>
        </p:txBody>
      </p:sp>
      <p:sp>
        <p:nvSpPr>
          <p:cNvPr id="16" name="Text 14"/>
          <p:cNvSpPr/>
          <p:nvPr/>
        </p:nvSpPr>
        <p:spPr>
          <a:xfrm>
            <a:off x="6096000" y="2466280"/>
            <a:ext cx="211912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A17"/>
                </a:solidFill>
                <a:latin typeface="Archivo" pitchFamily="34" charset="0"/>
                <a:ea typeface="Archivo" pitchFamily="34" charset="-122"/>
                <a:cs typeface="Archivo" pitchFamily="34" charset="-120"/>
              </a:rPr>
              <a:t>Especulación</a:t>
            </a:r>
            <a:endParaRPr lang="en-US" sz="1400" dirty="0"/>
          </a:p>
        </p:txBody>
      </p:sp>
      <p:sp>
        <p:nvSpPr>
          <p:cNvPr id="17" name="Text 15"/>
          <p:cNvSpPr/>
          <p:nvPr/>
        </p:nvSpPr>
        <p:spPr>
          <a:xfrm>
            <a:off x="6096000" y="2755801"/>
            <a:ext cx="2119122"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¿Se compra y se encarece más rápido de lo normal?</a:t>
            </a:r>
            <a:endParaRPr lang="en-US" sz="1200" dirty="0"/>
          </a:p>
        </p:txBody>
      </p:sp>
      <p:sp>
        <p:nvSpPr>
          <p:cNvPr id="18" name="Shape 16"/>
          <p:cNvSpPr/>
          <p:nvPr/>
        </p:nvSpPr>
        <p:spPr>
          <a:xfrm>
            <a:off x="8229600" y="1879600"/>
            <a:ext cx="1536700" cy="510480"/>
          </a:xfrm>
          <a:prstGeom prst="roundRect">
            <a:avLst>
              <a:gd name="adj" fmla="val 7464"/>
            </a:avLst>
          </a:prstGeom>
          <a:solidFill>
            <a:srgbClr val="D9A441"/>
          </a:solidFill>
          <a:ln/>
        </p:spPr>
      </p:sp>
      <p:sp>
        <p:nvSpPr>
          <p:cNvPr id="19" name="Text 17"/>
          <p:cNvSpPr/>
          <p:nvPr/>
        </p:nvSpPr>
        <p:spPr>
          <a:xfrm>
            <a:off x="8356600" y="1981200"/>
            <a:ext cx="13335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1B1A17"/>
                </a:solidFill>
                <a:latin typeface="Archivo Black" pitchFamily="34" charset="0"/>
                <a:ea typeface="Archivo Black" pitchFamily="34" charset="-122"/>
                <a:cs typeface="Archivo Black" pitchFamily="34" charset="-120"/>
              </a:rPr>
              <a:t>15 %</a:t>
            </a:r>
            <a:endParaRPr lang="en-US" sz="2200" dirty="0"/>
          </a:p>
        </p:txBody>
      </p:sp>
      <p:sp>
        <p:nvSpPr>
          <p:cNvPr id="20" name="Text 18"/>
          <p:cNvSpPr/>
          <p:nvPr/>
        </p:nvSpPr>
        <p:spPr>
          <a:xfrm>
            <a:off x="8229600" y="2466280"/>
            <a:ext cx="1587500" cy="452041"/>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A17"/>
                </a:solidFill>
                <a:latin typeface="Archivo" pitchFamily="34" charset="0"/>
                <a:ea typeface="Archivo" pitchFamily="34" charset="-122"/>
                <a:cs typeface="Archivo" pitchFamily="34" charset="-120"/>
              </a:rPr>
              <a:t>Desplazamiento vecinal</a:t>
            </a:r>
            <a:endParaRPr lang="en-US" sz="1400" dirty="0"/>
          </a:p>
        </p:txBody>
      </p:sp>
      <p:sp>
        <p:nvSpPr>
          <p:cNvPr id="21" name="Text 19"/>
          <p:cNvSpPr/>
          <p:nvPr/>
        </p:nvSpPr>
        <p:spPr>
          <a:xfrm>
            <a:off x="8229600" y="2969121"/>
            <a:ext cx="15875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¿Suben rentas y precios mientras cambian los hogares?</a:t>
            </a:r>
            <a:endParaRPr lang="en-US" sz="1200" dirty="0"/>
          </a:p>
        </p:txBody>
      </p:sp>
      <p:sp>
        <p:nvSpPr>
          <p:cNvPr id="22" name="Shape 20"/>
          <p:cNvSpPr/>
          <p:nvPr/>
        </p:nvSpPr>
        <p:spPr>
          <a:xfrm>
            <a:off x="9842500" y="1879600"/>
            <a:ext cx="1536700" cy="510480"/>
          </a:xfrm>
          <a:prstGeom prst="roundRect">
            <a:avLst>
              <a:gd name="adj" fmla="val 7464"/>
            </a:avLst>
          </a:prstGeom>
          <a:solidFill>
            <a:srgbClr val="5B6B84"/>
          </a:solidFill>
          <a:ln/>
        </p:spPr>
      </p:sp>
      <p:sp>
        <p:nvSpPr>
          <p:cNvPr id="23" name="Text 21"/>
          <p:cNvSpPr/>
          <p:nvPr/>
        </p:nvSpPr>
        <p:spPr>
          <a:xfrm>
            <a:off x="9969500" y="1981200"/>
            <a:ext cx="1333500"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F2F0E9"/>
                </a:solidFill>
                <a:latin typeface="Archivo Black" pitchFamily="34" charset="0"/>
                <a:ea typeface="Archivo Black" pitchFamily="34" charset="-122"/>
                <a:cs typeface="Archivo Black" pitchFamily="34" charset="-120"/>
              </a:rPr>
              <a:t>15 %</a:t>
            </a:r>
            <a:endParaRPr lang="en-US" sz="2200" dirty="0"/>
          </a:p>
        </p:txBody>
      </p:sp>
      <p:sp>
        <p:nvSpPr>
          <p:cNvPr id="24" name="Text 22"/>
          <p:cNvSpPr/>
          <p:nvPr/>
        </p:nvSpPr>
        <p:spPr>
          <a:xfrm>
            <a:off x="9842500" y="2466280"/>
            <a:ext cx="15875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B1A17"/>
                </a:solidFill>
                <a:latin typeface="Archivo" pitchFamily="34" charset="0"/>
                <a:ea typeface="Archivo" pitchFamily="34" charset="-122"/>
                <a:cs typeface="Archivo" pitchFamily="34" charset="-120"/>
              </a:rPr>
              <a:t>Riesgo futuro</a:t>
            </a:r>
            <a:endParaRPr lang="en-US" sz="1400" dirty="0"/>
          </a:p>
        </p:txBody>
      </p:sp>
      <p:sp>
        <p:nvSpPr>
          <p:cNvPr id="25" name="Text 23"/>
          <p:cNvSpPr/>
          <p:nvPr/>
        </p:nvSpPr>
        <p:spPr>
          <a:xfrm>
            <a:off x="9842500" y="2755801"/>
            <a:ext cx="1587500" cy="6424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¿Cuánto calor y sequía le esperan en 2041–2060?</a:t>
            </a:r>
            <a:endParaRPr lang="en-US" sz="1200" dirty="0"/>
          </a:p>
        </p:txBody>
      </p:sp>
      <p:sp>
        <p:nvSpPr>
          <p:cNvPr id="26" name="Shape 24"/>
          <p:cNvSpPr/>
          <p:nvPr/>
        </p:nvSpPr>
        <p:spPr>
          <a:xfrm>
            <a:off x="812800" y="4191000"/>
            <a:ext cx="10566400" cy="977801"/>
          </a:xfrm>
          <a:prstGeom prst="roundRect">
            <a:avLst>
              <a:gd name="adj" fmla="val 5195"/>
            </a:avLst>
          </a:prstGeom>
          <a:solidFill>
            <a:srgbClr val="E6E1D4"/>
          </a:solidFill>
          <a:ln/>
        </p:spPr>
      </p:sp>
      <p:sp>
        <p:nvSpPr>
          <p:cNvPr id="27" name="Text 25"/>
          <p:cNvSpPr/>
          <p:nvPr/>
        </p:nvSpPr>
        <p:spPr>
          <a:xfrm>
            <a:off x="1117600" y="4451251"/>
            <a:ext cx="1499295" cy="482600"/>
          </a:xfrm>
          <a:prstGeom prst="rect">
            <a:avLst/>
          </a:prstGeom>
          <a:noFill/>
          <a:ln/>
        </p:spPr>
        <p:txBody>
          <a:bodyPr wrap="square" lIns="0" tIns="0" rIns="0" bIns="0" rtlCol="0" anchor="t">
            <a:normAutofit/>
          </a:bodyPr>
          <a:lstStyle/>
          <a:p>
            <a:pPr algn="l" indent="0" marL="0">
              <a:lnSpc>
                <a:spcPts val="3600"/>
              </a:lnSpc>
              <a:buNone/>
            </a:pPr>
            <a:r>
              <a:rPr lang="en-US" sz="3600" dirty="0">
                <a:solidFill>
                  <a:srgbClr val="1B1A17"/>
                </a:solidFill>
                <a:latin typeface="Archivo Black" pitchFamily="34" charset="0"/>
                <a:ea typeface="Archivo Black" pitchFamily="34" charset="-122"/>
                <a:cs typeface="Archivo Black" pitchFamily="34" charset="-120"/>
              </a:rPr>
              <a:t>0–100</a:t>
            </a:r>
            <a:endParaRPr lang="en-US" sz="3600" dirty="0"/>
          </a:p>
        </p:txBody>
      </p:sp>
      <p:sp>
        <p:nvSpPr>
          <p:cNvPr id="28" name="Text 26"/>
          <p:cNvSpPr/>
          <p:nvPr/>
        </p:nvSpPr>
        <p:spPr>
          <a:xfrm>
            <a:off x="2870895" y="4419600"/>
            <a:ext cx="8449611"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B1A17"/>
                </a:solidFill>
                <a:latin typeface="Archivo" pitchFamily="34" charset="0"/>
                <a:ea typeface="Archivo" pitchFamily="34" charset="-122"/>
                <a:cs typeface="Archivo" pitchFamily="34" charset="-120"/>
              </a:rPr>
              <a:t>Una escala común: más alto es más presión frente al resto</a:t>
            </a:r>
            <a:endParaRPr lang="en-US" sz="1600" dirty="0"/>
          </a:p>
        </p:txBody>
      </p:sp>
      <p:sp>
        <p:nvSpPr>
          <p:cNvPr id="29" name="Text 27"/>
          <p:cNvSpPr/>
          <p:nvPr/>
        </p:nvSpPr>
        <p:spPr>
          <a:xfrm>
            <a:off x="2870895" y="4734520"/>
            <a:ext cx="8449611"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Los pesos son públicos y, si se reparten de otra forma, el orden apenas cambia</a:t>
            </a:r>
            <a:endParaRPr lang="en-US" sz="12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Porcentaje = peso de cada capa en la puntuación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09 · CONFIANZA</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09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¿Puede fiarse Celia?</a:t>
            </a:r>
            <a:endParaRPr lang="en-US" sz="3600" dirty="0"/>
          </a:p>
        </p:txBody>
      </p:sp>
      <p:sp>
        <p:nvSpPr>
          <p:cNvPr id="6" name="Shape 4"/>
          <p:cNvSpPr/>
          <p:nvPr/>
        </p:nvSpPr>
        <p:spPr>
          <a:xfrm>
            <a:off x="812800" y="1879600"/>
            <a:ext cx="4953000" cy="3810000"/>
          </a:xfrm>
          <a:prstGeom prst="roundRect">
            <a:avLst>
              <a:gd name="adj" fmla="val 1333"/>
            </a:avLst>
          </a:prstGeom>
          <a:solidFill>
            <a:srgbClr val="1B1A17"/>
          </a:solidFill>
          <a:ln/>
        </p:spPr>
      </p:sp>
      <p:sp>
        <p:nvSpPr>
          <p:cNvPr id="7" name="Text 5"/>
          <p:cNvSpPr/>
          <p:nvPr/>
        </p:nvSpPr>
        <p:spPr>
          <a:xfrm>
            <a:off x="1066800" y="21082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3A3B7"/>
                </a:solidFill>
                <a:latin typeface="IBM Plex Mono" pitchFamily="34" charset="0"/>
                <a:ea typeface="IBM Plex Mono" pitchFamily="34" charset="-122"/>
                <a:cs typeface="IBM Plex Mono" pitchFamily="34" charset="-120"/>
              </a:rPr>
              <a:t>COINCIDE CON EL ALQUILER REAL</a:t>
            </a:r>
            <a:endParaRPr lang="en-US" sz="1200" dirty="0"/>
          </a:p>
        </p:txBody>
      </p:sp>
      <p:sp>
        <p:nvSpPr>
          <p:cNvPr id="8" name="Text 6"/>
          <p:cNvSpPr/>
          <p:nvPr/>
        </p:nvSpPr>
        <p:spPr>
          <a:xfrm>
            <a:off x="1066800" y="2397720"/>
            <a:ext cx="4578350"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2F0E9"/>
                </a:solidFill>
                <a:latin typeface="Archivo" pitchFamily="34" charset="0"/>
                <a:ea typeface="Archivo" pitchFamily="34" charset="-122"/>
                <a:cs typeface="Archivo" pitchFamily="34" charset="-120"/>
              </a:rPr>
              <a:t>A más presión, más caro el alquiler, un dato que el índice no usa</a:t>
            </a:r>
            <a:endParaRPr lang="en-US" sz="1600" dirty="0"/>
          </a:p>
        </p:txBody>
      </p:sp>
      <p:sp>
        <p:nvSpPr>
          <p:cNvPr id="9" name="Text 7"/>
          <p:cNvSpPr/>
          <p:nvPr/>
        </p:nvSpPr>
        <p:spPr>
          <a:xfrm>
            <a:off x="1066800" y="5049639"/>
            <a:ext cx="457835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FC8B8"/>
                </a:solidFill>
                <a:latin typeface="Archivo" pitchFamily="34" charset="0"/>
                <a:ea typeface="Archivo" pitchFamily="34" charset="-122"/>
                <a:cs typeface="Archivo" pitchFamily="34" charset="-120"/>
              </a:rPr>
              <a:t>Alquiler mensual mediano (SERPAVI) por nivel de presión · 295 municipios · correlación 0,54</a:t>
            </a:r>
            <a:endParaRPr lang="en-US" sz="1200" dirty="0"/>
          </a:p>
        </p:txBody>
      </p:sp>
      <p:sp>
        <p:nvSpPr>
          <p:cNvPr id="10" name="Text 8"/>
          <p:cNvSpPr/>
          <p:nvPr/>
        </p:nvSpPr>
        <p:spPr>
          <a:xfrm>
            <a:off x="1317625" y="3486150"/>
            <a:ext cx="508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400 €</a:t>
            </a:r>
            <a:endParaRPr lang="en-US" sz="1200" dirty="0"/>
          </a:p>
        </p:txBody>
      </p:sp>
      <p:sp>
        <p:nvSpPr>
          <p:cNvPr id="11" name="Shape 9"/>
          <p:cNvSpPr/>
          <p:nvPr/>
        </p:nvSpPr>
        <p:spPr>
          <a:xfrm>
            <a:off x="1066800" y="3750270"/>
            <a:ext cx="958850" cy="889000"/>
          </a:xfrm>
          <a:prstGeom prst="roundRect">
            <a:avLst>
              <a:gd name="adj" fmla="val 2857"/>
            </a:avLst>
          </a:prstGeom>
          <a:solidFill>
            <a:srgbClr val="E9D6DD"/>
          </a:solidFill>
          <a:ln/>
        </p:spPr>
      </p:sp>
      <p:sp>
        <p:nvSpPr>
          <p:cNvPr id="12" name="Text 10"/>
          <p:cNvSpPr/>
          <p:nvPr/>
        </p:nvSpPr>
        <p:spPr>
          <a:xfrm>
            <a:off x="1314748" y="4690070"/>
            <a:ext cx="5136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8B8"/>
                </a:solidFill>
                <a:latin typeface="Archivo" pitchFamily="34" charset="0"/>
                <a:ea typeface="Archivo" pitchFamily="34" charset="-122"/>
                <a:cs typeface="Archivo" pitchFamily="34" charset="-120"/>
              </a:rPr>
              <a:t>Menos</a:t>
            </a:r>
            <a:endParaRPr lang="en-US" sz="1200" dirty="0"/>
          </a:p>
        </p:txBody>
      </p:sp>
      <p:sp>
        <p:nvSpPr>
          <p:cNvPr id="13" name="Text 11"/>
          <p:cNvSpPr/>
          <p:nvPr/>
        </p:nvSpPr>
        <p:spPr>
          <a:xfrm>
            <a:off x="2479675" y="3276600"/>
            <a:ext cx="508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493 €</a:t>
            </a:r>
            <a:endParaRPr lang="en-US" sz="1200" dirty="0"/>
          </a:p>
        </p:txBody>
      </p:sp>
      <p:sp>
        <p:nvSpPr>
          <p:cNvPr id="14" name="Shape 12"/>
          <p:cNvSpPr/>
          <p:nvPr/>
        </p:nvSpPr>
        <p:spPr>
          <a:xfrm>
            <a:off x="2228850" y="3540720"/>
            <a:ext cx="958850" cy="1098550"/>
          </a:xfrm>
          <a:prstGeom prst="roundRect">
            <a:avLst>
              <a:gd name="adj" fmla="val 2649"/>
            </a:avLst>
          </a:prstGeom>
          <a:solidFill>
            <a:srgbClr val="D3A3B7"/>
          </a:solidFill>
          <a:ln/>
        </p:spPr>
      </p:sp>
      <p:sp>
        <p:nvSpPr>
          <p:cNvPr id="15" name="Text 13"/>
          <p:cNvSpPr/>
          <p:nvPr/>
        </p:nvSpPr>
        <p:spPr>
          <a:xfrm>
            <a:off x="2682875" y="4690070"/>
            <a:ext cx="10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8B8"/>
                </a:solidFill>
                <a:latin typeface="Archivo" pitchFamily="34" charset="0"/>
                <a:ea typeface="Archivo" pitchFamily="34" charset="-122"/>
                <a:cs typeface="Archivo" pitchFamily="34" charset="-120"/>
              </a:rPr>
              <a:t>·</a:t>
            </a:r>
            <a:endParaRPr lang="en-US" sz="1200" dirty="0"/>
          </a:p>
        </p:txBody>
      </p:sp>
      <p:sp>
        <p:nvSpPr>
          <p:cNvPr id="16" name="Text 14"/>
          <p:cNvSpPr/>
          <p:nvPr/>
        </p:nvSpPr>
        <p:spPr>
          <a:xfrm>
            <a:off x="3641725" y="3206750"/>
            <a:ext cx="508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525 €</a:t>
            </a:r>
            <a:endParaRPr lang="en-US" sz="1200" dirty="0"/>
          </a:p>
        </p:txBody>
      </p:sp>
      <p:sp>
        <p:nvSpPr>
          <p:cNvPr id="17" name="Shape 15"/>
          <p:cNvSpPr/>
          <p:nvPr/>
        </p:nvSpPr>
        <p:spPr>
          <a:xfrm>
            <a:off x="3390900" y="3470870"/>
            <a:ext cx="958850" cy="1168400"/>
          </a:xfrm>
          <a:prstGeom prst="roundRect">
            <a:avLst>
              <a:gd name="adj" fmla="val 2649"/>
            </a:avLst>
          </a:prstGeom>
          <a:solidFill>
            <a:srgbClr val="C07E9A"/>
          </a:solidFill>
          <a:ln/>
        </p:spPr>
      </p:sp>
      <p:sp>
        <p:nvSpPr>
          <p:cNvPr id="18" name="Text 16"/>
          <p:cNvSpPr/>
          <p:nvPr/>
        </p:nvSpPr>
        <p:spPr>
          <a:xfrm>
            <a:off x="3844925" y="4690070"/>
            <a:ext cx="101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8B8"/>
                </a:solidFill>
                <a:latin typeface="Archivo" pitchFamily="34" charset="0"/>
                <a:ea typeface="Archivo" pitchFamily="34" charset="-122"/>
                <a:cs typeface="Archivo" pitchFamily="34" charset="-120"/>
              </a:rPr>
              <a:t>·</a:t>
            </a:r>
            <a:endParaRPr lang="en-US" sz="1200" dirty="0"/>
          </a:p>
        </p:txBody>
      </p:sp>
      <p:sp>
        <p:nvSpPr>
          <p:cNvPr id="19" name="Text 17"/>
          <p:cNvSpPr/>
          <p:nvPr/>
        </p:nvSpPr>
        <p:spPr>
          <a:xfrm>
            <a:off x="4803775" y="3105150"/>
            <a:ext cx="5080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F0E9"/>
                </a:solidFill>
                <a:latin typeface="IBM Plex Mono" pitchFamily="34" charset="0"/>
                <a:ea typeface="IBM Plex Mono" pitchFamily="34" charset="-122"/>
                <a:cs typeface="IBM Plex Mono" pitchFamily="34" charset="-120"/>
              </a:rPr>
              <a:t>570 €</a:t>
            </a:r>
            <a:endParaRPr lang="en-US" sz="1200" dirty="0"/>
          </a:p>
        </p:txBody>
      </p:sp>
      <p:sp>
        <p:nvSpPr>
          <p:cNvPr id="20" name="Shape 18"/>
          <p:cNvSpPr/>
          <p:nvPr/>
        </p:nvSpPr>
        <p:spPr>
          <a:xfrm>
            <a:off x="4552950" y="3369270"/>
            <a:ext cx="958850" cy="1270000"/>
          </a:xfrm>
          <a:prstGeom prst="roundRect">
            <a:avLst>
              <a:gd name="adj" fmla="val 2649"/>
            </a:avLst>
          </a:prstGeom>
          <a:solidFill>
            <a:srgbClr val="A9567E"/>
          </a:solidFill>
          <a:ln/>
        </p:spPr>
      </p:sp>
      <p:sp>
        <p:nvSpPr>
          <p:cNvPr id="21" name="Text 19"/>
          <p:cNvSpPr/>
          <p:nvPr/>
        </p:nvSpPr>
        <p:spPr>
          <a:xfrm>
            <a:off x="4887416" y="4690070"/>
            <a:ext cx="340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8B8"/>
                </a:solidFill>
                <a:latin typeface="Archivo" pitchFamily="34" charset="0"/>
                <a:ea typeface="Archivo" pitchFamily="34" charset="-122"/>
                <a:cs typeface="Archivo" pitchFamily="34" charset="-120"/>
              </a:rPr>
              <a:t>Más</a:t>
            </a:r>
            <a:endParaRPr lang="en-US" sz="1200" dirty="0"/>
          </a:p>
        </p:txBody>
      </p:sp>
      <p:sp>
        <p:nvSpPr>
          <p:cNvPr id="22" name="Shape 20"/>
          <p:cNvSpPr/>
          <p:nvPr/>
        </p:nvSpPr>
        <p:spPr>
          <a:xfrm>
            <a:off x="6070600" y="1885950"/>
            <a:ext cx="5308600" cy="0"/>
          </a:xfrm>
          <a:prstGeom prst="line">
            <a:avLst/>
          </a:prstGeom>
          <a:noFill/>
          <a:ln w="12700">
            <a:solidFill>
              <a:srgbClr val="1B1A17"/>
            </a:solidFill>
            <a:prstDash val="solid"/>
          </a:ln>
        </p:spPr>
      </p:sp>
      <p:pic>
        <p:nvPicPr>
          <p:cNvPr id="23" name="Image 0" descr="Verified">    </p:cNvPr>
          <p:cNvPicPr>
            <a:picLocks noChangeAspect="1"/>
          </p:cNvPicPr>
          <p:nvPr/>
        </p:nvPicPr>
        <p:blipFill>
          <a:blip r:embed="rId1"/>
          <a:srcRect l="0" r="0" t="0" b="0"/>
          <a:stretch/>
        </p:blipFill>
        <p:spPr>
          <a:xfrm>
            <a:off x="6070600" y="2006600"/>
            <a:ext cx="304800" cy="304800"/>
          </a:xfrm>
          <a:prstGeom prst="rect">
            <a:avLst/>
          </a:prstGeom>
        </p:spPr>
      </p:pic>
      <p:sp>
        <p:nvSpPr>
          <p:cNvPr id="24" name="Text 21"/>
          <p:cNvSpPr/>
          <p:nvPr/>
        </p:nvSpPr>
        <p:spPr>
          <a:xfrm>
            <a:off x="6527800" y="2006600"/>
            <a:ext cx="499694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Rastreable hasta la fuente</a:t>
            </a:r>
            <a:endParaRPr lang="en-US" sz="1600" dirty="0"/>
          </a:p>
        </p:txBody>
      </p:sp>
      <p:sp>
        <p:nvSpPr>
          <p:cNvPr id="25" name="Text 22"/>
          <p:cNvSpPr/>
          <p:nvPr/>
        </p:nvSpPr>
        <p:spPr>
          <a:xfrm>
            <a:off x="6527800" y="2298700"/>
            <a:ext cx="499694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Cada descarga guarda su fecha y su huella digital</a:t>
            </a:r>
            <a:endParaRPr lang="en-US" sz="1200" dirty="0"/>
          </a:p>
        </p:txBody>
      </p:sp>
      <p:sp>
        <p:nvSpPr>
          <p:cNvPr id="26" name="Shape 23"/>
          <p:cNvSpPr/>
          <p:nvPr/>
        </p:nvSpPr>
        <p:spPr>
          <a:xfrm>
            <a:off x="6070600" y="2876550"/>
            <a:ext cx="5308600" cy="0"/>
          </a:xfrm>
          <a:prstGeom prst="line">
            <a:avLst/>
          </a:prstGeom>
          <a:noFill/>
          <a:ln w="12700">
            <a:solidFill>
              <a:srgbClr val="1B1A17"/>
            </a:solidFill>
            <a:prstDash val="solid"/>
          </a:ln>
        </p:spPr>
      </p:sp>
      <p:pic>
        <p:nvPicPr>
          <p:cNvPr id="27" name="Image 1" descr="Lock">    </p:cNvPr>
          <p:cNvPicPr>
            <a:picLocks noChangeAspect="1"/>
          </p:cNvPicPr>
          <p:nvPr/>
        </p:nvPicPr>
        <p:blipFill>
          <a:blip r:embed="rId2"/>
          <a:srcRect l="0" r="0" t="0" b="0"/>
          <a:stretch/>
        </p:blipFill>
        <p:spPr>
          <a:xfrm>
            <a:off x="6070600" y="2997200"/>
            <a:ext cx="304800" cy="304800"/>
          </a:xfrm>
          <a:prstGeom prst="rect">
            <a:avLst/>
          </a:prstGeom>
        </p:spPr>
      </p:pic>
      <p:sp>
        <p:nvSpPr>
          <p:cNvPr id="28" name="Text 24"/>
          <p:cNvSpPr/>
          <p:nvPr/>
        </p:nvSpPr>
        <p:spPr>
          <a:xfrm>
            <a:off x="6527800" y="2997200"/>
            <a:ext cx="499694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Si algo falla, no se publica</a:t>
            </a:r>
            <a:endParaRPr lang="en-US" sz="1600" dirty="0"/>
          </a:p>
        </p:txBody>
      </p:sp>
      <p:sp>
        <p:nvSpPr>
          <p:cNvPr id="29" name="Text 25"/>
          <p:cNvSpPr/>
          <p:nvPr/>
        </p:nvSpPr>
        <p:spPr>
          <a:xfrm>
            <a:off x="6527800" y="3289300"/>
            <a:ext cx="499694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77 controles revisan los datos antes de llegar al mapa</a:t>
            </a:r>
            <a:endParaRPr lang="en-US" sz="1200" dirty="0"/>
          </a:p>
        </p:txBody>
      </p:sp>
      <p:sp>
        <p:nvSpPr>
          <p:cNvPr id="30" name="Shape 26"/>
          <p:cNvSpPr/>
          <p:nvPr/>
        </p:nvSpPr>
        <p:spPr>
          <a:xfrm>
            <a:off x="6070600" y="3867150"/>
            <a:ext cx="5308600" cy="0"/>
          </a:xfrm>
          <a:prstGeom prst="line">
            <a:avLst/>
          </a:prstGeom>
          <a:noFill/>
          <a:ln w="12700">
            <a:solidFill>
              <a:srgbClr val="1B1A17"/>
            </a:solidFill>
            <a:prstDash val="solid"/>
          </a:ln>
        </p:spPr>
      </p:sp>
      <p:pic>
        <p:nvPicPr>
          <p:cNvPr id="31" name="Image 2" descr="Clock">    </p:cNvPr>
          <p:cNvPicPr>
            <a:picLocks noChangeAspect="1"/>
          </p:cNvPicPr>
          <p:nvPr/>
        </p:nvPicPr>
        <p:blipFill>
          <a:blip r:embed="rId3"/>
          <a:srcRect l="0" r="0" t="0" b="0"/>
          <a:stretch/>
        </p:blipFill>
        <p:spPr>
          <a:xfrm>
            <a:off x="6070600" y="3987800"/>
            <a:ext cx="304800" cy="304800"/>
          </a:xfrm>
          <a:prstGeom prst="rect">
            <a:avLst/>
          </a:prstGeom>
        </p:spPr>
      </p:pic>
      <p:sp>
        <p:nvSpPr>
          <p:cNvPr id="32" name="Text 27"/>
          <p:cNvSpPr/>
          <p:nvPr/>
        </p:nvSpPr>
        <p:spPr>
          <a:xfrm>
            <a:off x="6527800" y="3987800"/>
            <a:ext cx="499694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Se actualiza solo</a:t>
            </a:r>
            <a:endParaRPr lang="en-US" sz="1600" dirty="0"/>
          </a:p>
        </p:txBody>
      </p:sp>
      <p:sp>
        <p:nvSpPr>
          <p:cNvPr id="33" name="Text 28"/>
          <p:cNvSpPr/>
          <p:nvPr/>
        </p:nvSpPr>
        <p:spPr>
          <a:xfrm>
            <a:off x="6527800" y="4279900"/>
            <a:ext cx="499694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Cada lunes comprueba si hay datos nuevos</a:t>
            </a:r>
            <a:endParaRPr lang="en-US" sz="1200" dirty="0"/>
          </a:p>
        </p:txBody>
      </p:sp>
      <p:sp>
        <p:nvSpPr>
          <p:cNvPr id="34" name="Shape 29"/>
          <p:cNvSpPr/>
          <p:nvPr/>
        </p:nvSpPr>
        <p:spPr>
          <a:xfrm>
            <a:off x="6070600" y="4857750"/>
            <a:ext cx="5308600" cy="0"/>
          </a:xfrm>
          <a:prstGeom prst="line">
            <a:avLst/>
          </a:prstGeom>
          <a:noFill/>
          <a:ln w="12700">
            <a:solidFill>
              <a:srgbClr val="1B1A17"/>
            </a:solidFill>
            <a:prstDash val="solid"/>
          </a:ln>
        </p:spPr>
      </p:sp>
      <p:pic>
        <p:nvPicPr>
          <p:cNvPr id="35" name="Image 3" descr="Chart">    </p:cNvPr>
          <p:cNvPicPr>
            <a:picLocks noChangeAspect="1"/>
          </p:cNvPicPr>
          <p:nvPr/>
        </p:nvPicPr>
        <p:blipFill>
          <a:blip r:embed="rId4"/>
          <a:srcRect l="0" r="0" t="0" b="0"/>
          <a:stretch/>
        </p:blipFill>
        <p:spPr>
          <a:xfrm>
            <a:off x="6070600" y="4978400"/>
            <a:ext cx="304800" cy="304800"/>
          </a:xfrm>
          <a:prstGeom prst="rect">
            <a:avLst/>
          </a:prstGeom>
        </p:spPr>
      </p:pic>
      <p:sp>
        <p:nvSpPr>
          <p:cNvPr id="36" name="Text 30"/>
          <p:cNvSpPr/>
          <p:nvPr/>
        </p:nvSpPr>
        <p:spPr>
          <a:xfrm>
            <a:off x="6527800" y="4978400"/>
            <a:ext cx="4996942"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1B1A17"/>
                </a:solidFill>
                <a:latin typeface="Archivo" pitchFamily="34" charset="0"/>
                <a:ea typeface="Archivo" pitchFamily="34" charset="-122"/>
                <a:cs typeface="Archivo" pitchFamily="34" charset="-120"/>
              </a:rPr>
              <a:t>Estable</a:t>
            </a:r>
            <a:endParaRPr lang="en-US" sz="1600" dirty="0"/>
          </a:p>
        </p:txBody>
      </p:sp>
      <p:sp>
        <p:nvSpPr>
          <p:cNvPr id="37" name="Text 31"/>
          <p:cNvSpPr/>
          <p:nvPr/>
        </p:nvSpPr>
        <p:spPr>
          <a:xfrm>
            <a:off x="6527800" y="5270500"/>
            <a:ext cx="4996942"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Con cinco repartos de pesos distintos, el orden apenas cambia</a:t>
            </a:r>
            <a:endParaRPr lang="en-US" sz="1200" dirty="0"/>
          </a:p>
        </p:txBody>
      </p:sp>
      <p:sp>
        <p:nvSpPr>
          <p:cNvPr id="38" name="Text 3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Barras: cuartiles del IPR-4, de menor a mayor presión · Spearman ≥ 0,93 entre repartos de pesos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0E9"/>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CFC8B8"/>
            </a:solidFill>
            <a:prstDash val="solid"/>
          </a:ln>
        </p:spPr>
      </p:sp>
      <p:sp>
        <p:nvSpPr>
          <p:cNvPr id="3" name="Text 1"/>
          <p:cNvSpPr/>
          <p:nvPr/>
        </p:nvSpPr>
        <p:spPr>
          <a:xfrm>
            <a:off x="812800" y="508000"/>
            <a:ext cx="784860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2350"/>
                </a:solidFill>
                <a:latin typeface="IBM Plex Mono" pitchFamily="34" charset="0"/>
                <a:ea typeface="IBM Plex Mono" pitchFamily="34" charset="-122"/>
                <a:cs typeface="IBM Plex Mono" pitchFamily="34" charset="-120"/>
              </a:rPr>
              <a:t>HOJA 10 · NO ES LA ÚNICA</a:t>
            </a:r>
            <a:endParaRPr lang="en-US" sz="1200" dirty="0"/>
          </a:p>
        </p:txBody>
      </p:sp>
      <p:sp>
        <p:nvSpPr>
          <p:cNvPr id="4" name="Text 2"/>
          <p:cNvSpPr/>
          <p:nvPr/>
        </p:nvSpPr>
        <p:spPr>
          <a:xfrm>
            <a:off x="9417050" y="508000"/>
            <a:ext cx="196215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10 / 11</a:t>
            </a:r>
            <a:endParaRPr lang="en-US" sz="1200" dirty="0"/>
          </a:p>
        </p:txBody>
      </p:sp>
      <p:sp>
        <p:nvSpPr>
          <p:cNvPr id="5" name="Text 3"/>
          <p:cNvSpPr/>
          <p:nvPr/>
        </p:nvSpPr>
        <p:spPr>
          <a:xfrm>
            <a:off x="812800" y="111760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spc="-50" kern="0" dirty="0">
                <a:solidFill>
                  <a:srgbClr val="1B1A17"/>
                </a:solidFill>
                <a:latin typeface="Archivo" pitchFamily="34" charset="0"/>
                <a:ea typeface="Archivo" pitchFamily="34" charset="-122"/>
                <a:cs typeface="Archivo" pitchFamily="34" charset="-120"/>
              </a:rPr>
              <a:t>Celia no es la única</a:t>
            </a:r>
            <a:endParaRPr lang="en-US" sz="3600" dirty="0"/>
          </a:p>
        </p:txBody>
      </p:sp>
      <p:sp>
        <p:nvSpPr>
          <p:cNvPr id="6" name="Shape 4"/>
          <p:cNvSpPr/>
          <p:nvPr/>
        </p:nvSpPr>
        <p:spPr>
          <a:xfrm>
            <a:off x="812800" y="1930400"/>
            <a:ext cx="2527300" cy="3429000"/>
          </a:xfrm>
          <a:prstGeom prst="roundRect">
            <a:avLst>
              <a:gd name="adj" fmla="val 2010"/>
            </a:avLst>
          </a:prstGeom>
          <a:solidFill>
            <a:srgbClr val="E6E1D4"/>
          </a:solidFill>
          <a:ln/>
        </p:spPr>
      </p:sp>
      <p:sp>
        <p:nvSpPr>
          <p:cNvPr id="7" name="Shape 5"/>
          <p:cNvSpPr/>
          <p:nvPr/>
        </p:nvSpPr>
        <p:spPr>
          <a:xfrm>
            <a:off x="812800" y="1955800"/>
            <a:ext cx="2527300" cy="0"/>
          </a:xfrm>
          <a:prstGeom prst="line">
            <a:avLst/>
          </a:prstGeom>
          <a:noFill/>
          <a:ln w="50800">
            <a:solidFill>
              <a:srgbClr val="7A2350"/>
            </a:solidFill>
            <a:prstDash val="solid"/>
          </a:ln>
        </p:spPr>
      </p:sp>
      <p:pic>
        <p:nvPicPr>
          <p:cNvPr id="8" name="Image 0" descr="Search">    </p:cNvPr>
          <p:cNvPicPr>
            <a:picLocks noChangeAspect="1"/>
          </p:cNvPicPr>
          <p:nvPr/>
        </p:nvPicPr>
        <p:blipFill>
          <a:blip r:embed="rId1"/>
          <a:srcRect l="0" r="0" t="0" b="0"/>
          <a:stretch/>
        </p:blipFill>
        <p:spPr>
          <a:xfrm>
            <a:off x="1016000" y="2209800"/>
            <a:ext cx="406400" cy="406400"/>
          </a:xfrm>
          <a:prstGeom prst="rect">
            <a:avLst/>
          </a:prstGeom>
        </p:spPr>
      </p:pic>
      <p:sp>
        <p:nvSpPr>
          <p:cNvPr id="9" name="Text 6"/>
          <p:cNvSpPr/>
          <p:nvPr/>
        </p:nvSpPr>
        <p:spPr>
          <a:xfrm>
            <a:off x="1016000" y="2692400"/>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B1A17"/>
                </a:solidFill>
                <a:latin typeface="Archivo" pitchFamily="34" charset="0"/>
                <a:ea typeface="Archivo" pitchFamily="34" charset="-122"/>
                <a:cs typeface="Archivo" pitchFamily="34" charset="-120"/>
              </a:rPr>
              <a:t>Analista público</a:t>
            </a:r>
            <a:endParaRPr lang="en-US" sz="2000" dirty="0"/>
          </a:p>
        </p:txBody>
      </p:sp>
      <p:sp>
        <p:nvSpPr>
          <p:cNvPr id="10" name="Text 7"/>
          <p:cNvSpPr/>
          <p:nvPr/>
        </p:nvSpPr>
        <p:spPr>
          <a:xfrm>
            <a:off x="1016000" y="311150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NECESITA</a:t>
            </a:r>
            <a:endParaRPr lang="en-US" sz="1200" dirty="0"/>
          </a:p>
        </p:txBody>
      </p:sp>
      <p:sp>
        <p:nvSpPr>
          <p:cNvPr id="11" name="Text 8"/>
          <p:cNvSpPr/>
          <p:nvPr/>
        </p:nvSpPr>
        <p:spPr>
          <a:xfrm>
            <a:off x="1016000" y="3401020"/>
            <a:ext cx="2184527" cy="533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B1A17"/>
                </a:solidFill>
                <a:latin typeface="Archivo" pitchFamily="34" charset="0"/>
                <a:ea typeface="Archivo" pitchFamily="34" charset="-122"/>
                <a:cs typeface="Archivo" pitchFamily="34" charset="-120"/>
              </a:rPr>
              <a:t>Priorizar qué municipios revisar</a:t>
            </a:r>
            <a:endParaRPr lang="en-US" sz="1600" dirty="0"/>
          </a:p>
        </p:txBody>
      </p:sp>
      <p:sp>
        <p:nvSpPr>
          <p:cNvPr id="12" name="Text 9"/>
          <p:cNvSpPr/>
          <p:nvPr/>
        </p:nvSpPr>
        <p:spPr>
          <a:xfrm>
            <a:off x="1016000" y="403602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USA</a:t>
            </a:r>
            <a:endParaRPr lang="en-US" sz="1200" dirty="0"/>
          </a:p>
        </p:txBody>
      </p:sp>
      <p:sp>
        <p:nvSpPr>
          <p:cNvPr id="13" name="Text 10"/>
          <p:cNvSpPr/>
          <p:nvPr/>
        </p:nvSpPr>
        <p:spPr>
          <a:xfrm>
            <a:off x="1016000" y="4325541"/>
            <a:ext cx="2184527"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El mapa y los percentiles</a:t>
            </a:r>
            <a:endParaRPr lang="en-US" sz="1200" dirty="0"/>
          </a:p>
        </p:txBody>
      </p:sp>
      <p:sp>
        <p:nvSpPr>
          <p:cNvPr id="14" name="Shape 11"/>
          <p:cNvSpPr/>
          <p:nvPr/>
        </p:nvSpPr>
        <p:spPr>
          <a:xfrm>
            <a:off x="3492500" y="1930400"/>
            <a:ext cx="2527300" cy="3429000"/>
          </a:xfrm>
          <a:prstGeom prst="roundRect">
            <a:avLst>
              <a:gd name="adj" fmla="val 2010"/>
            </a:avLst>
          </a:prstGeom>
          <a:solidFill>
            <a:srgbClr val="E6E1D4"/>
          </a:solidFill>
          <a:ln/>
        </p:spPr>
      </p:sp>
      <p:sp>
        <p:nvSpPr>
          <p:cNvPr id="15" name="Shape 12"/>
          <p:cNvSpPr/>
          <p:nvPr/>
        </p:nvSpPr>
        <p:spPr>
          <a:xfrm>
            <a:off x="3492500" y="1955800"/>
            <a:ext cx="2527300" cy="0"/>
          </a:xfrm>
          <a:prstGeom prst="line">
            <a:avLst/>
          </a:prstGeom>
          <a:noFill/>
          <a:ln w="50800">
            <a:solidFill>
              <a:srgbClr val="7A2350"/>
            </a:solidFill>
            <a:prstDash val="solid"/>
          </a:ln>
        </p:spPr>
      </p:sp>
      <p:pic>
        <p:nvPicPr>
          <p:cNvPr id="16" name="Image 1" descr="GraduationCap">    </p:cNvPr>
          <p:cNvPicPr>
            <a:picLocks noChangeAspect="1"/>
          </p:cNvPicPr>
          <p:nvPr/>
        </p:nvPicPr>
        <p:blipFill>
          <a:blip r:embed="rId2"/>
          <a:srcRect l="0" r="0" t="0" b="0"/>
          <a:stretch/>
        </p:blipFill>
        <p:spPr>
          <a:xfrm>
            <a:off x="3695700" y="2209800"/>
            <a:ext cx="406400" cy="406400"/>
          </a:xfrm>
          <a:prstGeom prst="rect">
            <a:avLst/>
          </a:prstGeom>
        </p:spPr>
      </p:pic>
      <p:sp>
        <p:nvSpPr>
          <p:cNvPr id="17" name="Text 13"/>
          <p:cNvSpPr/>
          <p:nvPr/>
        </p:nvSpPr>
        <p:spPr>
          <a:xfrm>
            <a:off x="3695700" y="2692400"/>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B1A17"/>
                </a:solidFill>
                <a:latin typeface="Archivo" pitchFamily="34" charset="0"/>
                <a:ea typeface="Archivo" pitchFamily="34" charset="-122"/>
                <a:cs typeface="Archivo" pitchFamily="34" charset="-120"/>
              </a:rPr>
              <a:t>Investigación</a:t>
            </a:r>
            <a:endParaRPr lang="en-US" sz="2000" dirty="0"/>
          </a:p>
        </p:txBody>
      </p:sp>
      <p:sp>
        <p:nvSpPr>
          <p:cNvPr id="18" name="Text 14"/>
          <p:cNvSpPr/>
          <p:nvPr/>
        </p:nvSpPr>
        <p:spPr>
          <a:xfrm>
            <a:off x="3695700" y="311150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NECESITA</a:t>
            </a:r>
            <a:endParaRPr lang="en-US" sz="1200" dirty="0"/>
          </a:p>
        </p:txBody>
      </p:sp>
      <p:sp>
        <p:nvSpPr>
          <p:cNvPr id="19" name="Text 15"/>
          <p:cNvSpPr/>
          <p:nvPr/>
        </p:nvSpPr>
        <p:spPr>
          <a:xfrm>
            <a:off x="3695700" y="3401020"/>
            <a:ext cx="2184527"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B1A17"/>
                </a:solidFill>
                <a:latin typeface="Archivo" pitchFamily="34" charset="0"/>
                <a:ea typeface="Archivo" pitchFamily="34" charset="-122"/>
                <a:cs typeface="Archivo" pitchFamily="34" charset="-120"/>
              </a:rPr>
              <a:t>Reproducir y contrastar</a:t>
            </a:r>
            <a:endParaRPr lang="en-US" sz="1600" dirty="0"/>
          </a:p>
        </p:txBody>
      </p:sp>
      <p:sp>
        <p:nvSpPr>
          <p:cNvPr id="20" name="Text 16"/>
          <p:cNvSpPr/>
          <p:nvPr/>
        </p:nvSpPr>
        <p:spPr>
          <a:xfrm>
            <a:off x="3695700" y="378202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USA</a:t>
            </a:r>
            <a:endParaRPr lang="en-US" sz="1200" dirty="0"/>
          </a:p>
        </p:txBody>
      </p:sp>
      <p:sp>
        <p:nvSpPr>
          <p:cNvPr id="21" name="Text 17"/>
          <p:cNvSpPr/>
          <p:nvPr/>
        </p:nvSpPr>
        <p:spPr>
          <a:xfrm>
            <a:off x="3695700" y="4071541"/>
            <a:ext cx="218452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Los datos, la metodología y la API</a:t>
            </a:r>
            <a:endParaRPr lang="en-US" sz="1200" dirty="0"/>
          </a:p>
        </p:txBody>
      </p:sp>
      <p:sp>
        <p:nvSpPr>
          <p:cNvPr id="22" name="Shape 18"/>
          <p:cNvSpPr/>
          <p:nvPr/>
        </p:nvSpPr>
        <p:spPr>
          <a:xfrm>
            <a:off x="6172200" y="1930400"/>
            <a:ext cx="2527300" cy="3429000"/>
          </a:xfrm>
          <a:prstGeom prst="roundRect">
            <a:avLst>
              <a:gd name="adj" fmla="val 2010"/>
            </a:avLst>
          </a:prstGeom>
          <a:solidFill>
            <a:srgbClr val="E6E1D4"/>
          </a:solidFill>
          <a:ln/>
        </p:spPr>
      </p:sp>
      <p:sp>
        <p:nvSpPr>
          <p:cNvPr id="23" name="Shape 19"/>
          <p:cNvSpPr/>
          <p:nvPr/>
        </p:nvSpPr>
        <p:spPr>
          <a:xfrm>
            <a:off x="6172200" y="1955800"/>
            <a:ext cx="2527300" cy="0"/>
          </a:xfrm>
          <a:prstGeom prst="line">
            <a:avLst/>
          </a:prstGeom>
          <a:noFill/>
          <a:ln w="50800">
            <a:solidFill>
              <a:srgbClr val="7A2350"/>
            </a:solidFill>
            <a:prstDash val="solid"/>
          </a:ln>
        </p:spPr>
      </p:sp>
      <p:pic>
        <p:nvPicPr>
          <p:cNvPr id="24" name="Image 2" descr="Chart">    </p:cNvPr>
          <p:cNvPicPr>
            <a:picLocks noChangeAspect="1"/>
          </p:cNvPicPr>
          <p:nvPr/>
        </p:nvPicPr>
        <p:blipFill>
          <a:blip r:embed="rId3"/>
          <a:srcRect l="0" r="0" t="0" b="0"/>
          <a:stretch/>
        </p:blipFill>
        <p:spPr>
          <a:xfrm>
            <a:off x="6375400" y="2209800"/>
            <a:ext cx="406400" cy="406400"/>
          </a:xfrm>
          <a:prstGeom prst="rect">
            <a:avLst/>
          </a:prstGeom>
        </p:spPr>
      </p:pic>
      <p:sp>
        <p:nvSpPr>
          <p:cNvPr id="25" name="Text 20"/>
          <p:cNvSpPr/>
          <p:nvPr/>
        </p:nvSpPr>
        <p:spPr>
          <a:xfrm>
            <a:off x="6375400" y="2692400"/>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B1A17"/>
                </a:solidFill>
                <a:latin typeface="Archivo" pitchFamily="34" charset="0"/>
                <a:ea typeface="Archivo" pitchFamily="34" charset="-122"/>
                <a:cs typeface="Archivo" pitchFamily="34" charset="-120"/>
              </a:rPr>
              <a:t>Consultora</a:t>
            </a:r>
            <a:endParaRPr lang="en-US" sz="2000" dirty="0"/>
          </a:p>
        </p:txBody>
      </p:sp>
      <p:sp>
        <p:nvSpPr>
          <p:cNvPr id="26" name="Text 21"/>
          <p:cNvSpPr/>
          <p:nvPr/>
        </p:nvSpPr>
        <p:spPr>
          <a:xfrm>
            <a:off x="6375400" y="311150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NECESITA</a:t>
            </a:r>
            <a:endParaRPr lang="en-US" sz="1200" dirty="0"/>
          </a:p>
        </p:txBody>
      </p:sp>
      <p:sp>
        <p:nvSpPr>
          <p:cNvPr id="27" name="Text 22"/>
          <p:cNvSpPr/>
          <p:nvPr/>
        </p:nvSpPr>
        <p:spPr>
          <a:xfrm>
            <a:off x="6375400" y="3401020"/>
            <a:ext cx="2184527" cy="279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1B1A17"/>
                </a:solidFill>
                <a:latin typeface="Archivo" pitchFamily="34" charset="0"/>
                <a:ea typeface="Archivo" pitchFamily="34" charset="-122"/>
                <a:cs typeface="Archivo" pitchFamily="34" charset="-120"/>
              </a:rPr>
              <a:t>Comparar municipios</a:t>
            </a:r>
            <a:endParaRPr lang="en-US" sz="1600" dirty="0"/>
          </a:p>
        </p:txBody>
      </p:sp>
      <p:sp>
        <p:nvSpPr>
          <p:cNvPr id="28" name="Text 23"/>
          <p:cNvSpPr/>
          <p:nvPr/>
        </p:nvSpPr>
        <p:spPr>
          <a:xfrm>
            <a:off x="6375400" y="378202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A2350"/>
                </a:solidFill>
                <a:latin typeface="IBM Plex Mono" pitchFamily="34" charset="0"/>
                <a:ea typeface="IBM Plex Mono" pitchFamily="34" charset="-122"/>
                <a:cs typeface="IBM Plex Mono" pitchFamily="34" charset="-120"/>
              </a:rPr>
              <a:t>USA</a:t>
            </a:r>
            <a:endParaRPr lang="en-US" sz="1200" dirty="0"/>
          </a:p>
        </p:txBody>
      </p:sp>
      <p:sp>
        <p:nvSpPr>
          <p:cNvPr id="29" name="Text 24"/>
          <p:cNvSpPr/>
          <p:nvPr/>
        </p:nvSpPr>
        <p:spPr>
          <a:xfrm>
            <a:off x="6375400" y="4071541"/>
            <a:ext cx="218452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A544C"/>
                </a:solidFill>
                <a:latin typeface="Archivo" pitchFamily="34" charset="0"/>
                <a:ea typeface="Archivo" pitchFamily="34" charset="-122"/>
                <a:cs typeface="Archivo" pitchFamily="34" charset="-120"/>
              </a:rPr>
              <a:t>El ranking, el comparador y la API</a:t>
            </a:r>
            <a:endParaRPr lang="en-US" sz="1200" dirty="0"/>
          </a:p>
        </p:txBody>
      </p:sp>
      <p:sp>
        <p:nvSpPr>
          <p:cNvPr id="30" name="Shape 25"/>
          <p:cNvSpPr/>
          <p:nvPr/>
        </p:nvSpPr>
        <p:spPr>
          <a:xfrm>
            <a:off x="8851900" y="1930400"/>
            <a:ext cx="2527300" cy="3429000"/>
          </a:xfrm>
          <a:prstGeom prst="roundRect">
            <a:avLst>
              <a:gd name="adj" fmla="val 2010"/>
            </a:avLst>
          </a:prstGeom>
          <a:solidFill>
            <a:srgbClr val="1B1A17"/>
          </a:solidFill>
          <a:ln/>
        </p:spPr>
      </p:sp>
      <p:sp>
        <p:nvSpPr>
          <p:cNvPr id="31" name="Shape 26"/>
          <p:cNvSpPr/>
          <p:nvPr/>
        </p:nvSpPr>
        <p:spPr>
          <a:xfrm>
            <a:off x="8851900" y="1955800"/>
            <a:ext cx="2527300" cy="0"/>
          </a:xfrm>
          <a:prstGeom prst="line">
            <a:avLst/>
          </a:prstGeom>
          <a:noFill/>
          <a:ln w="50800">
            <a:solidFill>
              <a:srgbClr val="D3A3B7"/>
            </a:solidFill>
            <a:prstDash val="solid"/>
          </a:ln>
        </p:spPr>
      </p:sp>
      <p:pic>
        <p:nvPicPr>
          <p:cNvPr id="32" name="Image 3" descr="Home">    </p:cNvPr>
          <p:cNvPicPr>
            <a:picLocks noChangeAspect="1"/>
          </p:cNvPicPr>
          <p:nvPr/>
        </p:nvPicPr>
        <p:blipFill>
          <a:blip r:embed="rId4"/>
          <a:srcRect l="0" r="0" t="0" b="0"/>
          <a:stretch/>
        </p:blipFill>
        <p:spPr>
          <a:xfrm>
            <a:off x="9055100" y="2209800"/>
            <a:ext cx="406400" cy="406400"/>
          </a:xfrm>
          <a:prstGeom prst="rect">
            <a:avLst/>
          </a:prstGeom>
        </p:spPr>
      </p:pic>
      <p:sp>
        <p:nvSpPr>
          <p:cNvPr id="33" name="Text 27"/>
          <p:cNvSpPr/>
          <p:nvPr/>
        </p:nvSpPr>
        <p:spPr>
          <a:xfrm>
            <a:off x="9055100" y="2692400"/>
            <a:ext cx="2184527"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F2F0E9"/>
                </a:solidFill>
                <a:latin typeface="Archivo" pitchFamily="34" charset="0"/>
                <a:ea typeface="Archivo" pitchFamily="34" charset="-122"/>
                <a:cs typeface="Archivo" pitchFamily="34" charset="-120"/>
              </a:rPr>
              <a:t>Ciudadanía</a:t>
            </a:r>
            <a:endParaRPr lang="en-US" sz="2000" dirty="0"/>
          </a:p>
        </p:txBody>
      </p:sp>
      <p:sp>
        <p:nvSpPr>
          <p:cNvPr id="34" name="Text 28"/>
          <p:cNvSpPr/>
          <p:nvPr/>
        </p:nvSpPr>
        <p:spPr>
          <a:xfrm>
            <a:off x="9055100" y="311150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3A3B7"/>
                </a:solidFill>
                <a:latin typeface="IBM Plex Mono" pitchFamily="34" charset="0"/>
                <a:ea typeface="IBM Plex Mono" pitchFamily="34" charset="-122"/>
                <a:cs typeface="IBM Plex Mono" pitchFamily="34" charset="-120"/>
              </a:rPr>
              <a:t>NECESITA</a:t>
            </a:r>
            <a:endParaRPr lang="en-US" sz="1200" dirty="0"/>
          </a:p>
        </p:txBody>
      </p:sp>
      <p:sp>
        <p:nvSpPr>
          <p:cNvPr id="35" name="Text 29"/>
          <p:cNvSpPr/>
          <p:nvPr/>
        </p:nvSpPr>
        <p:spPr>
          <a:xfrm>
            <a:off x="9055100" y="3401020"/>
            <a:ext cx="2184527" cy="533400"/>
          </a:xfrm>
          <a:prstGeom prst="rect">
            <a:avLst/>
          </a:prstGeom>
          <a:noFill/>
          <a:ln/>
        </p:spPr>
        <p:txBody>
          <a:bodyPr wrap="square" lIns="0" tIns="0" rIns="0" bIns="0" rtlCol="0" anchor="t">
            <a:normAutofit/>
          </a:bodyPr>
          <a:lstStyle/>
          <a:p>
            <a:pPr algn="l" indent="0" marL="0">
              <a:lnSpc>
                <a:spcPts val="2000"/>
              </a:lnSpc>
              <a:buNone/>
            </a:pPr>
            <a:r>
              <a:rPr lang="en-US" sz="1600" dirty="0">
                <a:solidFill>
                  <a:srgbClr val="F2F0E9"/>
                </a:solidFill>
                <a:latin typeface="Archivo" pitchFamily="34" charset="0"/>
                <a:ea typeface="Archivo" pitchFamily="34" charset="-122"/>
                <a:cs typeface="Archivo" pitchFamily="34" charset="-120"/>
              </a:rPr>
              <a:t>Entender qué pesa en su municipio</a:t>
            </a:r>
            <a:endParaRPr lang="en-US" sz="1600" dirty="0"/>
          </a:p>
        </p:txBody>
      </p:sp>
      <p:sp>
        <p:nvSpPr>
          <p:cNvPr id="36" name="Text 30"/>
          <p:cNvSpPr/>
          <p:nvPr/>
        </p:nvSpPr>
        <p:spPr>
          <a:xfrm>
            <a:off x="9055100" y="4036020"/>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3A3B7"/>
                </a:solidFill>
                <a:latin typeface="IBM Plex Mono" pitchFamily="34" charset="0"/>
                <a:ea typeface="IBM Plex Mono" pitchFamily="34" charset="-122"/>
                <a:cs typeface="IBM Plex Mono" pitchFamily="34" charset="-120"/>
              </a:rPr>
              <a:t>USA</a:t>
            </a:r>
            <a:endParaRPr lang="en-US" sz="1200" dirty="0"/>
          </a:p>
        </p:txBody>
      </p:sp>
      <p:sp>
        <p:nvSpPr>
          <p:cNvPr id="37" name="Text 31"/>
          <p:cNvSpPr/>
          <p:nvPr/>
        </p:nvSpPr>
        <p:spPr>
          <a:xfrm>
            <a:off x="9055100" y="4325541"/>
            <a:ext cx="2184527"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FC8B8"/>
                </a:solidFill>
                <a:latin typeface="Archivo" pitchFamily="34" charset="0"/>
                <a:ea typeface="Archivo" pitchFamily="34" charset="-122"/>
                <a:cs typeface="Archivo" pitchFamily="34" charset="-120"/>
              </a:rPr>
              <a:t>La ficha municipal, sin tecnicismos</a:t>
            </a:r>
            <a:endParaRPr lang="en-US" sz="1200" dirty="0"/>
          </a:p>
        </p:txBody>
      </p:sp>
      <p:sp>
        <p:nvSpPr>
          <p:cNvPr id="38" name="Text 32"/>
          <p:cNvSpPr/>
          <p:nvPr/>
        </p:nvSpPr>
        <p:spPr>
          <a:xfrm>
            <a:off x="812800" y="5511800"/>
            <a:ext cx="10883392" cy="299641"/>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B1A17"/>
                </a:solidFill>
                <a:latin typeface="Archivo" pitchFamily="34" charset="0"/>
                <a:ea typeface="Archivo" pitchFamily="34" charset="-122"/>
                <a:cs typeface="Archivo" pitchFamily="34" charset="-120"/>
              </a:rPr>
              <a:t>Una misma herramienta, </a:t>
            </a:r>
            <a:r>
              <a:rPr lang="en-US" sz="1600" b="1" dirty="0">
                <a:solidFill>
                  <a:srgbClr val="1B1A17"/>
                </a:solidFill>
                <a:latin typeface="Archivo" pitchFamily="34" charset="0"/>
                <a:ea typeface="Archivo" pitchFamily="34" charset="-122"/>
                <a:cs typeface="Archivo" pitchFamily="34" charset="-120"/>
              </a:rPr>
              <a:t>cuatro formas de usarla</a:t>
            </a:r>
            <a:r>
              <a:rPr lang="en-US" sz="1600" dirty="0">
                <a:solidFill>
                  <a:srgbClr val="1B1A17"/>
                </a:solidFill>
                <a:latin typeface="Archivo" pitchFamily="34" charset="0"/>
                <a:ea typeface="Archivo" pitchFamily="34" charset="-122"/>
                <a:cs typeface="Archivo" pitchFamily="34" charset="-120"/>
              </a:rPr>
              <a:t>.</a:t>
            </a:r>
            <a:endParaRPr lang="en-US" sz="1600" dirty="0"/>
          </a:p>
        </p:txBody>
      </p:sp>
      <p:sp>
        <p:nvSpPr>
          <p:cNvPr id="39" name="Text 3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A544C"/>
                </a:solidFill>
                <a:latin typeface="IBM Plex Mono" pitchFamily="34" charset="0"/>
                <a:ea typeface="IBM Plex Mono" pitchFamily="34" charset="-122"/>
                <a:cs typeface="IBM Plex Mono" pitchFamily="34" charset="-120"/>
              </a:rPr>
              <a:t>Observatorio de presión residencial</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A17"/>
        </a:solidFill>
      </p:bgPr>
    </p:bg>
    <p:spTree>
      <p:nvGrpSpPr>
        <p:cNvPr id="1" name=""/>
        <p:cNvGrpSpPr/>
        <p:nvPr/>
      </p:nvGrpSpPr>
      <p:grpSpPr>
        <a:xfrm>
          <a:off x="0" y="0"/>
          <a:ext cx="0" cy="0"/>
          <a:chOff x="0" y="0"/>
          <a:chExt cx="0" cy="0"/>
        </a:xfrm>
      </p:grpSpPr>
      <p:sp>
        <p:nvSpPr>
          <p:cNvPr id="2" name="Shape 0"/>
          <p:cNvSpPr/>
          <p:nvPr/>
        </p:nvSpPr>
        <p:spPr>
          <a:xfrm>
            <a:off x="260350" y="260350"/>
            <a:ext cx="11671300" cy="6337300"/>
          </a:xfrm>
          <a:prstGeom prst="rect">
            <a:avLst/>
          </a:prstGeom>
          <a:noFill/>
          <a:ln w="12700">
            <a:solidFill>
              <a:srgbClr val="3A3631"/>
            </a:solidFill>
            <a:prstDash val="solid"/>
          </a:ln>
        </p:spPr>
      </p:sp>
      <p:sp>
        <p:nvSpPr>
          <p:cNvPr id="3" name="Text 1"/>
          <p:cNvSpPr/>
          <p:nvPr/>
        </p:nvSpPr>
        <p:spPr>
          <a:xfrm>
            <a:off x="812800" y="16612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D3A3B7"/>
                </a:solidFill>
                <a:latin typeface="IBM Plex Mono" pitchFamily="34" charset="0"/>
                <a:ea typeface="IBM Plex Mono" pitchFamily="34" charset="-122"/>
                <a:cs typeface="IBM Plex Mono" pitchFamily="34" charset="-120"/>
              </a:rPr>
              <a:t>HOJA 11 · FINAL</a:t>
            </a:r>
            <a:endParaRPr lang="en-US" sz="1200" dirty="0"/>
          </a:p>
        </p:txBody>
      </p:sp>
      <p:sp>
        <p:nvSpPr>
          <p:cNvPr id="4" name="Text 2"/>
          <p:cNvSpPr/>
          <p:nvPr/>
        </p:nvSpPr>
        <p:spPr>
          <a:xfrm>
            <a:off x="812800" y="2128540"/>
            <a:ext cx="10883392" cy="665460"/>
          </a:xfrm>
          <a:prstGeom prst="rect">
            <a:avLst/>
          </a:prstGeom>
          <a:noFill/>
          <a:ln/>
        </p:spPr>
        <p:txBody>
          <a:bodyPr wrap="square" lIns="0" tIns="0" rIns="0" bIns="0" rtlCol="0" anchor="t">
            <a:normAutofit/>
          </a:bodyPr>
          <a:lstStyle/>
          <a:p>
            <a:pPr algn="l" indent="0" marL="0">
              <a:lnSpc>
                <a:spcPts val="5040"/>
              </a:lnSpc>
              <a:buNone/>
            </a:pPr>
            <a:r>
              <a:rPr lang="en-US" sz="4800" spc="-50" kern="0" dirty="0">
                <a:solidFill>
                  <a:srgbClr val="F2F0E9"/>
                </a:solidFill>
                <a:latin typeface="Archivo Black" pitchFamily="34" charset="0"/>
                <a:ea typeface="Archivo Black" pitchFamily="34" charset="-122"/>
                <a:cs typeface="Archivo Black" pitchFamily="34" charset="-120"/>
              </a:rPr>
              <a:t>Celia ya sabe dónde mirar.</a:t>
            </a:r>
            <a:endParaRPr lang="en-US" sz="4800" dirty="0"/>
          </a:p>
        </p:txBody>
      </p:sp>
      <p:sp>
        <p:nvSpPr>
          <p:cNvPr id="5" name="Text 3"/>
          <p:cNvSpPr/>
          <p:nvPr/>
        </p:nvSpPr>
        <p:spPr>
          <a:xfrm>
            <a:off x="812800" y="3022600"/>
            <a:ext cx="10883392" cy="69592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D3A3B7"/>
                </a:solidFill>
                <a:latin typeface="Archivo" pitchFamily="34" charset="0"/>
                <a:ea typeface="Archivo" pitchFamily="34" charset="-122"/>
                <a:cs typeface="Archivo" pitchFamily="34" charset="-120"/>
              </a:rPr>
              <a:t>El observatorio no decide por ella ni sustituye el estudio local: le dice por dónde empezar.</a:t>
            </a:r>
            <a:endParaRPr lang="en-US" sz="2200" dirty="0"/>
          </a:p>
        </p:txBody>
      </p:sp>
      <p:sp>
        <p:nvSpPr>
          <p:cNvPr id="6" name="Shape 4"/>
          <p:cNvSpPr/>
          <p:nvPr/>
        </p:nvSpPr>
        <p:spPr>
          <a:xfrm>
            <a:off x="812800" y="3953470"/>
            <a:ext cx="10566400" cy="0"/>
          </a:xfrm>
          <a:prstGeom prst="line">
            <a:avLst/>
          </a:prstGeom>
          <a:noFill/>
          <a:ln w="12700">
            <a:solidFill>
              <a:srgbClr val="3A3631"/>
            </a:solidFill>
            <a:prstDash val="solid"/>
          </a:ln>
        </p:spPr>
      </p:sp>
      <p:sp>
        <p:nvSpPr>
          <p:cNvPr id="7" name="Text 5"/>
          <p:cNvSpPr/>
          <p:nvPr/>
        </p:nvSpPr>
        <p:spPr>
          <a:xfrm>
            <a:off x="812800" y="413762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FC8B8"/>
                </a:solidFill>
                <a:latin typeface="IBM Plex Mono" pitchFamily="34" charset="0"/>
                <a:ea typeface="IBM Plex Mono" pitchFamily="34" charset="-122"/>
                <a:cs typeface="IBM Plex Mono" pitchFamily="34" charset="-120"/>
              </a:rPr>
              <a:t>LO SIGUIENTE</a:t>
            </a:r>
            <a:endParaRPr lang="en-US" sz="1200" dirty="0"/>
          </a:p>
        </p:txBody>
      </p:sp>
      <p:sp>
        <p:nvSpPr>
          <p:cNvPr id="8" name="Text 6"/>
          <p:cNvSpPr/>
          <p:nvPr/>
        </p:nvSpPr>
        <p:spPr>
          <a:xfrm>
            <a:off x="812800" y="4452541"/>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0E9"/>
                </a:solidFill>
                <a:latin typeface="Archivo" pitchFamily="34" charset="0"/>
                <a:ea typeface="Archivo" pitchFamily="34" charset="-122"/>
                <a:cs typeface="Archivo" pitchFamily="34" charset="-120"/>
              </a:rPr>
              <a:t>Probarlo con usuarios reales</a:t>
            </a:r>
            <a:endParaRPr lang="en-US" sz="1200" dirty="0"/>
          </a:p>
        </p:txBody>
      </p:sp>
      <p:sp>
        <p:nvSpPr>
          <p:cNvPr id="9" name="Text 7"/>
          <p:cNvSpPr/>
          <p:nvPr/>
        </p:nvSpPr>
        <p:spPr>
          <a:xfrm>
            <a:off x="3505200" y="4452541"/>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0E9"/>
                </a:solidFill>
                <a:latin typeface="Archivo" pitchFamily="34" charset="0"/>
                <a:ea typeface="Archivo" pitchFamily="34" charset="-122"/>
                <a:cs typeface="Archivo" pitchFamily="34" charset="-120"/>
              </a:rPr>
              <a:t>Alertas cuando cambian los datos</a:t>
            </a:r>
            <a:endParaRPr lang="en-US" sz="1200" dirty="0"/>
          </a:p>
        </p:txBody>
      </p:sp>
      <p:sp>
        <p:nvSpPr>
          <p:cNvPr id="10" name="Text 8"/>
          <p:cNvSpPr/>
          <p:nvPr/>
        </p:nvSpPr>
        <p:spPr>
          <a:xfrm>
            <a:off x="6197600" y="4452541"/>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0E9"/>
                </a:solidFill>
                <a:latin typeface="Archivo" pitchFamily="34" charset="0"/>
                <a:ea typeface="Archivo" pitchFamily="34" charset="-122"/>
                <a:cs typeface="Archivo" pitchFamily="34" charset="-120"/>
              </a:rPr>
              <a:t>Pesos acordados con expertos</a:t>
            </a:r>
            <a:endParaRPr lang="en-US" sz="1200" dirty="0"/>
          </a:p>
        </p:txBody>
      </p:sp>
      <p:sp>
        <p:nvSpPr>
          <p:cNvPr id="11" name="Text 9"/>
          <p:cNvSpPr/>
          <p:nvPr/>
        </p:nvSpPr>
        <p:spPr>
          <a:xfrm>
            <a:off x="8890000" y="4452541"/>
            <a:ext cx="2563876" cy="23108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2F0E9"/>
                </a:solidFill>
                <a:latin typeface="Archivo" pitchFamily="34" charset="0"/>
                <a:ea typeface="Archivo" pitchFamily="34" charset="-122"/>
                <a:cs typeface="Archivo" pitchFamily="34" charset="-120"/>
              </a:rPr>
              <a:t>Una serie histórica comparable</a:t>
            </a:r>
            <a:endParaRPr lang="en-US" sz="1200" dirty="0"/>
          </a:p>
        </p:txBody>
      </p:sp>
      <p:sp>
        <p:nvSpPr>
          <p:cNvPr id="12" name="Text 10"/>
          <p:cNvSpPr/>
          <p:nvPr/>
        </p:nvSpPr>
        <p:spPr>
          <a:xfrm>
            <a:off x="812800" y="491222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F0E9"/>
                </a:solidFill>
                <a:latin typeface="Archivo" pitchFamily="34" charset="0"/>
                <a:ea typeface="Archivo" pitchFamily="34" charset="-122"/>
                <a:cs typeface="Archivo" pitchFamily="34" charset="-120"/>
              </a:rPr>
              <a:t>Gracias · Alberto Llaneza Tabares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Universidad Complutense de Madrid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Dónde mirar primero · Versión final</dc:title>
  <dc:subject>Trabajo Fin de Máster · Observatorio de Presión Residencial</dc:subject>
  <dc:creator>Alberto Llaneza Tabares</dc:creator>
  <cp:lastModifiedBy>Alberto Llaneza Tabares</cp:lastModifiedBy>
  <cp:revision>1</cp:revision>
  <dcterms:created xsi:type="dcterms:W3CDTF">2026-09-17T16:33:13Z</dcterms:created>
  <dcterms:modified xsi:type="dcterms:W3CDTF">2026-09-17T16:33:13Z</dcterms:modified>
</cp:coreProperties>
</file>